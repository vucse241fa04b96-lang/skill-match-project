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65" r:id="rId2"/>
    <p:sldId id="310" r:id="rId3"/>
    <p:sldId id="337" r:id="rId4"/>
    <p:sldId id="316" r:id="rId5"/>
    <p:sldId id="317" r:id="rId6"/>
    <p:sldId id="339" r:id="rId7"/>
    <p:sldId id="344" r:id="rId8"/>
    <p:sldId id="323" r:id="rId9"/>
    <p:sldId id="324" r:id="rId10"/>
    <p:sldId id="330" r:id="rId11"/>
    <p:sldId id="340" r:id="rId12"/>
    <p:sldId id="345" r:id="rId13"/>
    <p:sldId id="346" r:id="rId14"/>
    <p:sldId id="331" r:id="rId15"/>
    <p:sldId id="332" r:id="rId16"/>
    <p:sldId id="341" r:id="rId17"/>
    <p:sldId id="333" r:id="rId18"/>
    <p:sldId id="334" r:id="rId19"/>
    <p:sldId id="342" r:id="rId20"/>
    <p:sldId id="343" r:id="rId21"/>
    <p:sldId id="338" r:id="rId22"/>
    <p:sldId id="314" r:id="rId23"/>
    <p:sldId id="325" r:id="rId24"/>
  </p:sldIdLst>
  <p:sldSz cx="12188825"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9A465B-735E-4F31-9DD1-DD6B7187D512}" v="16" dt="2026-06-02T03:50:52.5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29" autoAdjust="0"/>
  </p:normalViewPr>
  <p:slideViewPr>
    <p:cSldViewPr showGuides="1">
      <p:cViewPr varScale="1">
        <p:scale>
          <a:sx n="82" d="100"/>
          <a:sy n="82" d="100"/>
        </p:scale>
        <p:origin x="720" y="72"/>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litha Chowdari" userId="daa055a9a923263c" providerId="LiveId" clId="{F0B2609C-FBF4-40DA-9D41-6D3DE581D299}"/>
    <pc:docChg chg="custSel addSld delSld modSld sldOrd">
      <pc:chgData name="Lalitha Chowdari" userId="daa055a9a923263c" providerId="LiveId" clId="{F0B2609C-FBF4-40DA-9D41-6D3DE581D299}" dt="2026-06-02T03:51:58.328" v="453" actId="1076"/>
      <pc:docMkLst>
        <pc:docMk/>
      </pc:docMkLst>
      <pc:sldChg chg="addSp delSp modSp mod">
        <pc:chgData name="Lalitha Chowdari" userId="daa055a9a923263c" providerId="LiveId" clId="{F0B2609C-FBF4-40DA-9D41-6D3DE581D299}" dt="2026-06-02T03:19:39.406" v="414" actId="1076"/>
        <pc:sldMkLst>
          <pc:docMk/>
          <pc:sldMk cId="1436251681" sldId="331"/>
        </pc:sldMkLst>
        <pc:spChg chg="del">
          <ac:chgData name="Lalitha Chowdari" userId="daa055a9a923263c" providerId="LiveId" clId="{F0B2609C-FBF4-40DA-9D41-6D3DE581D299}" dt="2026-06-02T03:19:28.729" v="410" actId="21"/>
          <ac:spMkLst>
            <pc:docMk/>
            <pc:sldMk cId="1436251681" sldId="331"/>
            <ac:spMk id="2" creationId="{5AFFE6D1-B949-2B7F-1FA0-EDD7159AF8E7}"/>
          </ac:spMkLst>
        </pc:spChg>
        <pc:spChg chg="mod">
          <ac:chgData name="Lalitha Chowdari" userId="daa055a9a923263c" providerId="LiveId" clId="{F0B2609C-FBF4-40DA-9D41-6D3DE581D299}" dt="2026-06-02T03:19:32.989" v="411" actId="1076"/>
          <ac:spMkLst>
            <pc:docMk/>
            <pc:sldMk cId="1436251681" sldId="331"/>
            <ac:spMk id="5" creationId="{73B149A7-4412-4E0C-FD12-2973326A4F9D}"/>
          </ac:spMkLst>
        </pc:spChg>
        <pc:picChg chg="add mod">
          <ac:chgData name="Lalitha Chowdari" userId="daa055a9a923263c" providerId="LiveId" clId="{F0B2609C-FBF4-40DA-9D41-6D3DE581D299}" dt="2026-06-02T03:19:39.406" v="414" actId="1076"/>
          <ac:picMkLst>
            <pc:docMk/>
            <pc:sldMk cId="1436251681" sldId="331"/>
            <ac:picMk id="4" creationId="{CFB0F93C-9AA4-734F-EB77-303DF1BC764F}"/>
          </ac:picMkLst>
        </pc:picChg>
        <pc:picChg chg="del">
          <ac:chgData name="Lalitha Chowdari" userId="daa055a9a923263c" providerId="LiveId" clId="{F0B2609C-FBF4-40DA-9D41-6D3DE581D299}" dt="2026-06-02T03:18:53.290" v="401" actId="21"/>
          <ac:picMkLst>
            <pc:docMk/>
            <pc:sldMk cId="1436251681" sldId="331"/>
            <ac:picMk id="6" creationId="{B8F66C46-1F42-68C9-6F9F-1078DFA3879C}"/>
          </ac:picMkLst>
        </pc:picChg>
      </pc:sldChg>
      <pc:sldChg chg="modSp del mod">
        <pc:chgData name="Lalitha Chowdari" userId="daa055a9a923263c" providerId="LiveId" clId="{F0B2609C-FBF4-40DA-9D41-6D3DE581D299}" dt="2026-06-02T03:02:42.706" v="104" actId="2696"/>
        <pc:sldMkLst>
          <pc:docMk/>
          <pc:sldMk cId="426127405" sldId="336"/>
        </pc:sldMkLst>
        <pc:spChg chg="mod">
          <ac:chgData name="Lalitha Chowdari" userId="daa055a9a923263c" providerId="LiveId" clId="{F0B2609C-FBF4-40DA-9D41-6D3DE581D299}" dt="2026-06-02T02:59:36.932" v="47" actId="20577"/>
          <ac:spMkLst>
            <pc:docMk/>
            <pc:sldMk cId="426127405" sldId="336"/>
            <ac:spMk id="3" creationId="{F85B1CBF-8A0F-17B6-DFB9-E2D3E1132349}"/>
          </ac:spMkLst>
        </pc:spChg>
      </pc:sldChg>
      <pc:sldChg chg="modSp mod">
        <pc:chgData name="Lalitha Chowdari" userId="daa055a9a923263c" providerId="LiveId" clId="{F0B2609C-FBF4-40DA-9D41-6D3DE581D299}" dt="2026-06-02T03:25:27.151" v="440"/>
        <pc:sldMkLst>
          <pc:docMk/>
          <pc:sldMk cId="2088258340" sldId="338"/>
        </pc:sldMkLst>
        <pc:spChg chg="mod">
          <ac:chgData name="Lalitha Chowdari" userId="daa055a9a923263c" providerId="LiveId" clId="{F0B2609C-FBF4-40DA-9D41-6D3DE581D299}" dt="2026-06-02T03:25:27.151" v="440"/>
          <ac:spMkLst>
            <pc:docMk/>
            <pc:sldMk cId="2088258340" sldId="338"/>
            <ac:spMk id="3" creationId="{58C80B78-B883-B728-5B9B-885AC97D3579}"/>
          </ac:spMkLst>
        </pc:spChg>
      </pc:sldChg>
      <pc:sldChg chg="modSp mod">
        <pc:chgData name="Lalitha Chowdari" userId="daa055a9a923263c" providerId="LiveId" clId="{F0B2609C-FBF4-40DA-9D41-6D3DE581D299}" dt="2026-06-02T03:12:18.528" v="269" actId="12"/>
        <pc:sldMkLst>
          <pc:docMk/>
          <pc:sldMk cId="2382826472" sldId="339"/>
        </pc:sldMkLst>
        <pc:spChg chg="mod">
          <ac:chgData name="Lalitha Chowdari" userId="daa055a9a923263c" providerId="LiveId" clId="{F0B2609C-FBF4-40DA-9D41-6D3DE581D299}" dt="2026-06-02T03:12:18.528" v="269" actId="12"/>
          <ac:spMkLst>
            <pc:docMk/>
            <pc:sldMk cId="2382826472" sldId="339"/>
            <ac:spMk id="4" creationId="{22CDB484-C8B8-8D9B-9D24-2D7E3DCDC41E}"/>
          </ac:spMkLst>
        </pc:spChg>
      </pc:sldChg>
      <pc:sldChg chg="modSp mod">
        <pc:chgData name="Lalitha Chowdari" userId="daa055a9a923263c" providerId="LiveId" clId="{F0B2609C-FBF4-40DA-9D41-6D3DE581D299}" dt="2026-06-02T03:15:20.109" v="320" actId="20577"/>
        <pc:sldMkLst>
          <pc:docMk/>
          <pc:sldMk cId="3723035504" sldId="340"/>
        </pc:sldMkLst>
        <pc:spChg chg="mod">
          <ac:chgData name="Lalitha Chowdari" userId="daa055a9a923263c" providerId="LiveId" clId="{F0B2609C-FBF4-40DA-9D41-6D3DE581D299}" dt="2026-06-02T03:15:20.109" v="320" actId="20577"/>
          <ac:spMkLst>
            <pc:docMk/>
            <pc:sldMk cId="3723035504" sldId="340"/>
            <ac:spMk id="2" creationId="{228299BF-5147-5E19-697F-AD48AF73E0A1}"/>
          </ac:spMkLst>
        </pc:spChg>
      </pc:sldChg>
      <pc:sldChg chg="addSp modSp mod">
        <pc:chgData name="Lalitha Chowdari" userId="daa055a9a923263c" providerId="LiveId" clId="{F0B2609C-FBF4-40DA-9D41-6D3DE581D299}" dt="2026-06-02T03:22:09.760" v="431" actId="1076"/>
        <pc:sldMkLst>
          <pc:docMk/>
          <pc:sldMk cId="1231085048" sldId="342"/>
        </pc:sldMkLst>
        <pc:spChg chg="mod">
          <ac:chgData name="Lalitha Chowdari" userId="daa055a9a923263c" providerId="LiveId" clId="{F0B2609C-FBF4-40DA-9D41-6D3DE581D299}" dt="2026-06-02T03:22:09.760" v="431" actId="1076"/>
          <ac:spMkLst>
            <pc:docMk/>
            <pc:sldMk cId="1231085048" sldId="342"/>
            <ac:spMk id="2" creationId="{968CD7CA-803C-630B-EF85-DB4239C48A11}"/>
          </ac:spMkLst>
        </pc:spChg>
        <pc:picChg chg="add mod">
          <ac:chgData name="Lalitha Chowdari" userId="daa055a9a923263c" providerId="LiveId" clId="{F0B2609C-FBF4-40DA-9D41-6D3DE581D299}" dt="2026-06-02T03:22:01.424" v="430" actId="14100"/>
          <ac:picMkLst>
            <pc:docMk/>
            <pc:sldMk cId="1231085048" sldId="342"/>
            <ac:picMk id="4" creationId="{2503AD7A-1D71-D204-694C-5FE71BF26027}"/>
          </ac:picMkLst>
        </pc:picChg>
      </pc:sldChg>
      <pc:sldChg chg="addSp delSp modSp mod">
        <pc:chgData name="Lalitha Chowdari" userId="daa055a9a923263c" providerId="LiveId" clId="{F0B2609C-FBF4-40DA-9D41-6D3DE581D299}" dt="2026-06-02T03:22:43.156" v="438" actId="14100"/>
        <pc:sldMkLst>
          <pc:docMk/>
          <pc:sldMk cId="841630710" sldId="343"/>
        </pc:sldMkLst>
        <pc:spChg chg="mod">
          <ac:chgData name="Lalitha Chowdari" userId="daa055a9a923263c" providerId="LiveId" clId="{F0B2609C-FBF4-40DA-9D41-6D3DE581D299}" dt="2026-06-02T03:18:36.291" v="400" actId="20577"/>
          <ac:spMkLst>
            <pc:docMk/>
            <pc:sldMk cId="841630710" sldId="343"/>
            <ac:spMk id="2" creationId="{5A61A649-834E-3D94-896D-5F9E9756CBB4}"/>
          </ac:spMkLst>
        </pc:spChg>
        <pc:picChg chg="del">
          <ac:chgData name="Lalitha Chowdari" userId="daa055a9a923263c" providerId="LiveId" clId="{F0B2609C-FBF4-40DA-9D41-6D3DE581D299}" dt="2026-06-02T03:17:48.705" v="330" actId="21"/>
          <ac:picMkLst>
            <pc:docMk/>
            <pc:sldMk cId="841630710" sldId="343"/>
            <ac:picMk id="4" creationId="{44E92DEF-D50A-CA60-AE84-37AE5289CB97}"/>
          </ac:picMkLst>
        </pc:picChg>
        <pc:picChg chg="add mod">
          <ac:chgData name="Lalitha Chowdari" userId="daa055a9a923263c" providerId="LiveId" clId="{F0B2609C-FBF4-40DA-9D41-6D3DE581D299}" dt="2026-06-02T03:22:43.156" v="438" actId="14100"/>
          <ac:picMkLst>
            <pc:docMk/>
            <pc:sldMk cId="841630710" sldId="343"/>
            <ac:picMk id="5" creationId="{84BF8A78-7F64-7A66-E7A4-CA448D7A0BD5}"/>
          </ac:picMkLst>
        </pc:picChg>
      </pc:sldChg>
      <pc:sldChg chg="addSp modSp new mod">
        <pc:chgData name="Lalitha Chowdari" userId="daa055a9a923263c" providerId="LiveId" clId="{F0B2609C-FBF4-40DA-9D41-6D3DE581D299}" dt="2026-06-02T03:14:09.059" v="273" actId="1076"/>
        <pc:sldMkLst>
          <pc:docMk/>
          <pc:sldMk cId="3701728462" sldId="344"/>
        </pc:sldMkLst>
        <pc:spChg chg="add mod">
          <ac:chgData name="Lalitha Chowdari" userId="daa055a9a923263c" providerId="LiveId" clId="{F0B2609C-FBF4-40DA-9D41-6D3DE581D299}" dt="2026-06-02T03:14:09.059" v="273" actId="1076"/>
          <ac:spMkLst>
            <pc:docMk/>
            <pc:sldMk cId="3701728462" sldId="344"/>
            <ac:spMk id="2" creationId="{8111C51D-7924-9B96-D4BF-5876488E5432}"/>
          </ac:spMkLst>
        </pc:spChg>
      </pc:sldChg>
      <pc:sldChg chg="addSp modSp new mod">
        <pc:chgData name="Lalitha Chowdari" userId="daa055a9a923263c" providerId="LiveId" clId="{F0B2609C-FBF4-40DA-9D41-6D3DE581D299}" dt="2026-06-02T03:51:58.328" v="453" actId="1076"/>
        <pc:sldMkLst>
          <pc:docMk/>
          <pc:sldMk cId="3062340497" sldId="345"/>
        </pc:sldMkLst>
        <pc:spChg chg="add mod">
          <ac:chgData name="Lalitha Chowdari" userId="daa055a9a923263c" providerId="LiveId" clId="{F0B2609C-FBF4-40DA-9D41-6D3DE581D299}" dt="2026-06-02T03:51:42.023" v="451" actId="2710"/>
          <ac:spMkLst>
            <pc:docMk/>
            <pc:sldMk cId="3062340497" sldId="345"/>
            <ac:spMk id="2" creationId="{0FE3866B-47E8-67BD-0B8B-9A70581948A1}"/>
          </ac:spMkLst>
        </pc:spChg>
        <pc:spChg chg="add mod">
          <ac:chgData name="Lalitha Chowdari" userId="daa055a9a923263c" providerId="LiveId" clId="{F0B2609C-FBF4-40DA-9D41-6D3DE581D299}" dt="2026-06-02T03:51:58.328" v="453" actId="1076"/>
          <ac:spMkLst>
            <pc:docMk/>
            <pc:sldMk cId="3062340497" sldId="345"/>
            <ac:spMk id="3" creationId="{6050B7BA-6154-57E0-0245-99B980F62942}"/>
          </ac:spMkLst>
        </pc:spChg>
      </pc:sldChg>
      <pc:sldChg chg="addSp modSp new mod ord">
        <pc:chgData name="Lalitha Chowdari" userId="daa055a9a923263c" providerId="LiveId" clId="{F0B2609C-FBF4-40DA-9D41-6D3DE581D299}" dt="2026-06-02T03:20:54.535" v="422" actId="1076"/>
        <pc:sldMkLst>
          <pc:docMk/>
          <pc:sldMk cId="3536990373" sldId="346"/>
        </pc:sldMkLst>
        <pc:spChg chg="add mod">
          <ac:chgData name="Lalitha Chowdari" userId="daa055a9a923263c" providerId="LiveId" clId="{F0B2609C-FBF4-40DA-9D41-6D3DE581D299}" dt="2026-06-02T03:19:22.598" v="409"/>
          <ac:spMkLst>
            <pc:docMk/>
            <pc:sldMk cId="3536990373" sldId="346"/>
            <ac:spMk id="2" creationId="{1C1E7B36-213E-E735-1638-AA50A0E708AE}"/>
          </ac:spMkLst>
        </pc:spChg>
        <pc:spChg chg="add mod">
          <ac:chgData name="Lalitha Chowdari" userId="daa055a9a923263c" providerId="LiveId" clId="{F0B2609C-FBF4-40DA-9D41-6D3DE581D299}" dt="2026-06-02T03:20:39.177" v="418" actId="1076"/>
          <ac:spMkLst>
            <pc:docMk/>
            <pc:sldMk cId="3536990373" sldId="346"/>
            <ac:spMk id="3" creationId="{9BF7CF4C-1BCB-8C0C-AB16-32EA90B0DDA1}"/>
          </ac:spMkLst>
        </pc:spChg>
        <pc:picChg chg="add mod">
          <ac:chgData name="Lalitha Chowdari" userId="daa055a9a923263c" providerId="LiveId" clId="{F0B2609C-FBF4-40DA-9D41-6D3DE581D299}" dt="2026-06-02T03:20:54.535" v="422" actId="1076"/>
          <ac:picMkLst>
            <pc:docMk/>
            <pc:sldMk cId="3536990373" sldId="346"/>
            <ac:picMk id="5" creationId="{477312AB-41E2-7BC8-ABD1-581B7138953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6/2/2026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6/2/2026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6/2/2026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6/2/2026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6/2/2026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6/2/2026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6/2/2026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6/2/2026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6/2/2026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6/2/2026</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6/2/2026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6/2/2026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6/2/2026</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hyperlink" Target="https://github.com/vucse241fa04b96-lang/skill-match-project" TargetMode="External"/><Relationship Id="rId3" Type="http://schemas.openxmlformats.org/officeDocument/2006/relationships/hyperlink" Target="file:///C:\Users\Lenovo\AppData\Local\Packages\5319275A.WhatsAppDesktop_cv1g1gvanyjgm\LocalState\sessions\DEDA81B07BB9746289852469A78341788F0B5EAC\transfers\2026-18\IJIRT175992_PAPER%20(1).pdf" TargetMode="External"/><Relationship Id="rId7" Type="http://schemas.openxmlformats.org/officeDocument/2006/relationships/hyperlink" Target="https://www.kaggle.com/datasets/ravindrasinghrana/job-description-dataset" TargetMode="External"/><Relationship Id="rId2" Type="http://schemas.openxmlformats.org/officeDocument/2006/relationships/hyperlink" Target="file:///C:\Users\Lenovo\AppData\Local\Packages\5319275A.WhatsAppDesktop_cv1g1gvanyjgm\LocalState\sessions\DEDA81B07BB9746289852469A78341788F0B5EAC\transfers\2026-18\1707439%20(1).pdf" TargetMode="External"/><Relationship Id="rId1" Type="http://schemas.openxmlformats.org/officeDocument/2006/relationships/slideLayout" Target="../slideLayouts/slideLayout2.xml"/><Relationship Id="rId6" Type="http://schemas.openxmlformats.org/officeDocument/2006/relationships/hyperlink" Target="https://docs.streamlit.io/" TargetMode="External"/><Relationship Id="rId5" Type="http://schemas.openxmlformats.org/officeDocument/2006/relationships/hyperlink" Target="https://www.geeksforgeeks.org/python/built-in-modules-in-python/" TargetMode="External"/><Relationship Id="rId4" Type="http://schemas.openxmlformats.org/officeDocument/2006/relationships/hyperlink" Target="https://www.geeksforgeeks.org/python/libraries-in-python/"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765820" y="620688"/>
            <a:ext cx="8229600" cy="2895600"/>
          </a:xfrm>
        </p:spPr>
        <p:txBody>
          <a:bodyPr>
            <a:normAutofit/>
          </a:bodyPr>
          <a:lstStyle/>
          <a:p>
            <a:r>
              <a:rPr lang="en-US" sz="8800" b="1"/>
              <a:t>Skill-Based Career Analyzer</a:t>
            </a:r>
            <a:endParaRPr lang="en-US" sz="8800"/>
          </a:p>
        </p:txBody>
      </p:sp>
      <p:sp>
        <p:nvSpPr>
          <p:cNvPr id="4" name="Subtitle 3"/>
          <p:cNvSpPr>
            <a:spLocks noGrp="1"/>
          </p:cNvSpPr>
          <p:nvPr>
            <p:ph type="subTitle" idx="1"/>
          </p:nvPr>
        </p:nvSpPr>
        <p:spPr>
          <a:xfrm>
            <a:off x="909836" y="4293096"/>
            <a:ext cx="8413575" cy="1580728"/>
          </a:xfrm>
        </p:spPr>
        <p:txBody>
          <a:bodyPr>
            <a:normAutofit/>
          </a:bodyPr>
          <a:lstStyle/>
          <a:p>
            <a:r>
              <a:rPr lang="en-US" dirty="0">
                <a:latin typeface="Arial" panose="020B0604020202020204" pitchFamily="34" charset="0"/>
                <a:cs typeface="Arial" panose="020B0604020202020204" pitchFamily="34" charset="0"/>
              </a:rPr>
              <a:t>Presented by:</a:t>
            </a:r>
          </a:p>
          <a:p>
            <a:endParaRPr lang="en-US" dirty="0">
              <a:latin typeface="Arial" panose="020B0604020202020204" pitchFamily="34" charset="0"/>
              <a:cs typeface="Arial" panose="020B0604020202020204" pitchFamily="34" charset="0"/>
            </a:endParaRPr>
          </a:p>
          <a:p>
            <a:pPr marL="342900" indent="-342900">
              <a:buFont typeface="Courier New" panose="02070309020205020404" pitchFamily="49" charset="0"/>
              <a:buChar char="o"/>
            </a:pPr>
            <a:r>
              <a:rPr lang="en-US" dirty="0">
                <a:latin typeface="Arial" panose="020B0604020202020204" pitchFamily="34" charset="0"/>
                <a:cs typeface="Arial" panose="020B0604020202020204" pitchFamily="34" charset="0"/>
              </a:rPr>
              <a:t>241FA04B93</a:t>
            </a:r>
          </a:p>
          <a:p>
            <a:pPr marL="342900" indent="-342900">
              <a:buFont typeface="Courier New" panose="02070309020205020404" pitchFamily="49" charset="0"/>
              <a:buChar char="o"/>
            </a:pPr>
            <a:r>
              <a:rPr lang="en-US" dirty="0">
                <a:latin typeface="Arial" panose="020B0604020202020204" pitchFamily="34" charset="0"/>
                <a:cs typeface="Arial" panose="020B0604020202020204" pitchFamily="34" charset="0"/>
              </a:rPr>
              <a:t>241FA04B96</a:t>
            </a:r>
          </a:p>
          <a:p>
            <a:pPr marL="342900" indent="-342900">
              <a:buFont typeface="Courier New" panose="02070309020205020404" pitchFamily="49" charset="0"/>
              <a:buChar char="o"/>
            </a:pPr>
            <a:r>
              <a:rPr lang="en-US" dirty="0">
                <a:latin typeface="Arial" panose="020B0604020202020204" pitchFamily="34" charset="0"/>
                <a:cs typeface="Arial" panose="020B0604020202020204" pitchFamily="34" charset="0"/>
              </a:rPr>
              <a:t>241FA04C30</a:t>
            </a:r>
          </a:p>
        </p:txBody>
      </p:sp>
    </p:spTree>
    <p:extLst>
      <p:ext uri="{BB962C8B-B14F-4D97-AF65-F5344CB8AC3E}">
        <p14:creationId xmlns:p14="http://schemas.microsoft.com/office/powerpoint/2010/main" val="280892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713812" y="-3285"/>
            <a:ext cx="9144001" cy="1371600"/>
          </a:xfrm>
        </p:spPr>
        <p:txBody>
          <a:bodyPr/>
          <a:lstStyle/>
          <a:p>
            <a:r>
              <a:rPr lang="en-US" dirty="0"/>
              <a:t>ABSTRACT</a:t>
            </a:r>
          </a:p>
        </p:txBody>
      </p:sp>
      <p:sp>
        <p:nvSpPr>
          <p:cNvPr id="14" name="Content Placeholder 13"/>
          <p:cNvSpPr>
            <a:spLocks noGrp="1"/>
          </p:cNvSpPr>
          <p:nvPr>
            <p:ph idx="1"/>
          </p:nvPr>
        </p:nvSpPr>
        <p:spPr>
          <a:xfrm>
            <a:off x="1341884" y="1700808"/>
            <a:ext cx="9134391" cy="4114801"/>
          </a:xfrm>
        </p:spPr>
        <p:txBody>
          <a:bodyPr vert="horz" lIns="91440" tIns="45720" rIns="91440" bIns="45720" rtlCol="0" anchor="ctr">
            <a:normAutofit/>
          </a:bodyPr>
          <a:lstStyle/>
          <a:p>
            <a:pPr marL="0" indent="0" algn="ctr">
              <a:buNone/>
            </a:pPr>
            <a:r>
              <a:rPr lang="en-IN" dirty="0"/>
              <a:t>This project presents a Skill-Based Career Analyzer that helps individuals evaluate their career potential based on their existing skills. By </a:t>
            </a:r>
            <a:r>
              <a:rPr lang="en-IN" dirty="0" err="1"/>
              <a:t>analyzing</a:t>
            </a:r>
            <a:r>
              <a:rPr lang="en-IN" dirty="0"/>
              <a:t> a user’s resume, the system identifies key skills, recommends suitable job roles, and highlights skill gaps that need improvement. It also detects outdated skills and suggests relevant, in-demand alternatives to keep users aligned with current industry trends. Also the system provides insights into companies hiring for recommended roles, along with relevant job and salary information. And using chatbot for personal queries. The goal is to offer personalized career guidance that enables users to make informed career decisions and enhance their employability in a rapidly evolving job market.</a:t>
            </a:r>
            <a:endParaRPr lang="en-US" dirty="0">
              <a:ea typeface="+mn-lt"/>
              <a:cs typeface="+mn-lt"/>
            </a:endParaRPr>
          </a:p>
        </p:txBody>
      </p:sp>
    </p:spTree>
    <p:extLst>
      <p:ext uri="{BB962C8B-B14F-4D97-AF65-F5344CB8AC3E}">
        <p14:creationId xmlns:p14="http://schemas.microsoft.com/office/powerpoint/2010/main" val="213913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507CB-E03F-DF2F-F05A-4D25E0E9D25A}"/>
              </a:ext>
            </a:extLst>
          </p:cNvPr>
          <p:cNvSpPr>
            <a:spLocks noGrp="1"/>
          </p:cNvSpPr>
          <p:nvPr>
            <p:ph type="title"/>
          </p:nvPr>
        </p:nvSpPr>
        <p:spPr/>
        <p:txBody>
          <a:bodyPr/>
          <a:lstStyle/>
          <a:p>
            <a:r>
              <a:rPr lang="en-IN" b="1" dirty="0"/>
              <a:t>Proposed System</a:t>
            </a:r>
            <a:endParaRPr lang="en-IN" dirty="0"/>
          </a:p>
        </p:txBody>
      </p:sp>
      <p:sp>
        <p:nvSpPr>
          <p:cNvPr id="3" name="Content Placeholder 2">
            <a:extLst>
              <a:ext uri="{FF2B5EF4-FFF2-40B4-BE49-F238E27FC236}">
                <a16:creationId xmlns:a16="http://schemas.microsoft.com/office/drawing/2014/main" id="{AE2B7F04-8C0C-D60F-E1B4-159AC4122B39}"/>
              </a:ext>
            </a:extLst>
          </p:cNvPr>
          <p:cNvSpPr>
            <a:spLocks noGrp="1"/>
          </p:cNvSpPr>
          <p:nvPr>
            <p:ph idx="1"/>
          </p:nvPr>
        </p:nvSpPr>
        <p:spPr/>
        <p:txBody>
          <a:bodyPr/>
          <a:lstStyle/>
          <a:p>
            <a:r>
              <a:rPr lang="en-IN" dirty="0"/>
              <a:t>The proposed system, titled </a:t>
            </a:r>
            <a:r>
              <a:rPr lang="en-IN" b="1" dirty="0"/>
              <a:t>Skill-Based Career Analyzer</a:t>
            </a:r>
            <a:r>
              <a:rPr lang="en-IN" dirty="0"/>
              <a:t>, is designed to provide intelligent career guidance by </a:t>
            </a:r>
            <a:r>
              <a:rPr lang="en-IN" dirty="0" err="1"/>
              <a:t>analyzing</a:t>
            </a:r>
            <a:r>
              <a:rPr lang="en-IN" dirty="0"/>
              <a:t> a user’s resume and identifying relevant skills. Unlike traditional resume screening systems that focus mainly on recruitment, this system emphasizes </a:t>
            </a:r>
            <a:r>
              <a:rPr lang="en-IN" b="1" dirty="0"/>
              <a:t>skill awareness, job suitability, and career improvement guidance</a:t>
            </a:r>
            <a:r>
              <a:rPr lang="en-IN" dirty="0"/>
              <a:t>.</a:t>
            </a:r>
          </a:p>
          <a:p>
            <a:r>
              <a:rPr lang="en-IN" dirty="0"/>
              <a:t>The system processes the uploaded resume, extracts meaningful skills, and compares them with a structured dataset of job roles and required skills. Based on this analysis, it recommends suitable job roles, identifies missing skills, detects outdated technologies, suggests suitable jobs and provides personalized solutions with chatbot.</a:t>
            </a:r>
          </a:p>
          <a:p>
            <a:pPr marL="0" indent="0">
              <a:buNone/>
            </a:pPr>
            <a:endParaRPr lang="en-IN" dirty="0"/>
          </a:p>
        </p:txBody>
      </p:sp>
    </p:spTree>
    <p:extLst>
      <p:ext uri="{BB962C8B-B14F-4D97-AF65-F5344CB8AC3E}">
        <p14:creationId xmlns:p14="http://schemas.microsoft.com/office/powerpoint/2010/main" val="94038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785" y="-459432"/>
            <a:ext cx="9144001" cy="1371600"/>
          </a:xfrm>
        </p:spPr>
        <p:txBody>
          <a:bodyPr/>
          <a:lstStyle/>
          <a:p>
            <a:r>
              <a:rPr lang="en-US" dirty="0"/>
              <a:t>Our approach(Architecture)</a:t>
            </a:r>
          </a:p>
        </p:txBody>
      </p:sp>
      <p:sp>
        <p:nvSpPr>
          <p:cNvPr id="3" name="TextBox 2"/>
          <p:cNvSpPr txBox="1"/>
          <p:nvPr/>
        </p:nvSpPr>
        <p:spPr>
          <a:xfrm>
            <a:off x="303659" y="1052736"/>
            <a:ext cx="11233248" cy="5909310"/>
          </a:xfrm>
          <a:prstGeom prst="rect">
            <a:avLst/>
          </a:prstGeom>
          <a:noFill/>
        </p:spPr>
        <p:txBody>
          <a:bodyPr wrap="square" lIns="91440" tIns="45720" rIns="91440" bIns="45720" rtlCol="0" anchor="t">
            <a:spAutoFit/>
          </a:bodyPr>
          <a:lstStyle/>
          <a:p>
            <a:r>
              <a:rPr lang="en-US" dirty="0"/>
              <a:t>Limitations of Existing Systems</a:t>
            </a:r>
          </a:p>
          <a:p>
            <a:pPr marL="285750" indent="-285750">
              <a:buFont typeface="Arial"/>
              <a:buChar char="•"/>
            </a:pPr>
            <a:r>
              <a:rPr lang="en-US" dirty="0">
                <a:ea typeface="+mn-lt"/>
                <a:cs typeface="+mn-lt"/>
              </a:rPr>
              <a:t>Most resume analysis systems focus mainly on </a:t>
            </a:r>
            <a:r>
              <a:rPr lang="en-US" b="1" dirty="0">
                <a:ea typeface="+mn-lt"/>
                <a:cs typeface="+mn-lt"/>
              </a:rPr>
              <a:t>matching resumes with job descriptions</a:t>
            </a:r>
            <a:r>
              <a:rPr lang="en-US" dirty="0">
                <a:ea typeface="+mn-lt"/>
                <a:cs typeface="+mn-lt"/>
              </a:rPr>
              <a:t> </a:t>
            </a:r>
          </a:p>
          <a:p>
            <a:pPr marL="285750" indent="-285750">
              <a:buFont typeface="Arial"/>
              <a:buChar char="•"/>
            </a:pPr>
            <a:r>
              <a:rPr lang="en-US" dirty="0">
                <a:ea typeface="+mn-lt"/>
                <a:cs typeface="+mn-lt"/>
              </a:rPr>
              <a:t>Candidates are ranked using </a:t>
            </a:r>
            <a:r>
              <a:rPr lang="en-US" b="1" dirty="0">
                <a:ea typeface="+mn-lt"/>
                <a:cs typeface="+mn-lt"/>
              </a:rPr>
              <a:t>similarity scores</a:t>
            </a:r>
            <a:r>
              <a:rPr lang="en-US" dirty="0">
                <a:ea typeface="+mn-lt"/>
                <a:cs typeface="+mn-lt"/>
              </a:rPr>
              <a:t> </a:t>
            </a:r>
            <a:endParaRPr lang="en-US" dirty="0"/>
          </a:p>
          <a:p>
            <a:pPr marL="285750" indent="-285750">
              <a:buFont typeface="Arial"/>
              <a:buChar char="•"/>
            </a:pPr>
            <a:r>
              <a:rPr lang="en-US" dirty="0">
                <a:ea typeface="+mn-lt"/>
                <a:cs typeface="+mn-lt"/>
              </a:rPr>
              <a:t>While efficient for recruitment, these systems: </a:t>
            </a:r>
            <a:endParaRPr lang="en-US" dirty="0"/>
          </a:p>
          <a:p>
            <a:pPr marL="742950" lvl="1" indent="-285750">
              <a:buFont typeface="Arial"/>
              <a:buChar char="•"/>
            </a:pPr>
            <a:r>
              <a:rPr lang="en-US" dirty="0">
                <a:ea typeface="+mn-lt"/>
                <a:cs typeface="+mn-lt"/>
              </a:rPr>
              <a:t>Do not provide </a:t>
            </a:r>
            <a:r>
              <a:rPr lang="en-US" b="1" dirty="0">
                <a:ea typeface="+mn-lt"/>
                <a:cs typeface="+mn-lt"/>
              </a:rPr>
              <a:t>clear understanding of extracted skills</a:t>
            </a:r>
            <a:r>
              <a:rPr lang="en-US" dirty="0">
                <a:ea typeface="+mn-lt"/>
                <a:cs typeface="+mn-lt"/>
              </a:rPr>
              <a:t> </a:t>
            </a:r>
            <a:endParaRPr lang="en-US" dirty="0"/>
          </a:p>
          <a:p>
            <a:pPr marL="742950" lvl="1" indent="-285750">
              <a:buFont typeface="Arial"/>
              <a:buChar char="•"/>
            </a:pPr>
            <a:r>
              <a:rPr lang="en-US" dirty="0">
                <a:ea typeface="+mn-lt"/>
                <a:cs typeface="+mn-lt"/>
              </a:rPr>
              <a:t>Lack </a:t>
            </a:r>
            <a:r>
              <a:rPr lang="en-US" b="1" dirty="0">
                <a:ea typeface="+mn-lt"/>
                <a:cs typeface="+mn-lt"/>
              </a:rPr>
              <a:t>detailed skill gap identification</a:t>
            </a:r>
            <a:r>
              <a:rPr lang="en-US" dirty="0">
                <a:ea typeface="+mn-lt"/>
                <a:cs typeface="+mn-lt"/>
              </a:rPr>
              <a:t> </a:t>
            </a:r>
          </a:p>
          <a:p>
            <a:pPr marL="742950" lvl="1" indent="-285750">
              <a:buFont typeface="Arial"/>
              <a:buChar char="•"/>
            </a:pPr>
            <a:r>
              <a:rPr lang="en-US" dirty="0">
                <a:ea typeface="+mn-lt"/>
                <a:cs typeface="+mn-lt"/>
              </a:rPr>
              <a:t>Offer </a:t>
            </a:r>
            <a:r>
              <a:rPr lang="en-US" b="1" dirty="0">
                <a:ea typeface="+mn-lt"/>
                <a:cs typeface="+mn-lt"/>
              </a:rPr>
              <a:t>limited guidance for improvement</a:t>
            </a:r>
            <a:r>
              <a:rPr lang="en-US" dirty="0">
                <a:ea typeface="+mn-lt"/>
                <a:cs typeface="+mn-lt"/>
              </a:rPr>
              <a:t> </a:t>
            </a:r>
            <a:endParaRPr lang="en-US" dirty="0"/>
          </a:p>
          <a:p>
            <a:pPr marL="742950" lvl="1" indent="-285750">
              <a:buFont typeface="Arial"/>
              <a:buChar char="•"/>
            </a:pPr>
            <a:endParaRPr lang="en-US" dirty="0">
              <a:ea typeface="+mn-lt"/>
              <a:cs typeface="+mn-lt"/>
            </a:endParaRPr>
          </a:p>
          <a:p>
            <a:pPr lvl="1"/>
            <a:endParaRPr lang="en-US" b="1" dirty="0">
              <a:ea typeface="+mn-lt"/>
              <a:cs typeface="+mn-lt"/>
            </a:endParaRPr>
          </a:p>
          <a:p>
            <a:pPr marL="742950" lvl="1" indent="-285750">
              <a:buFont typeface="Arial"/>
              <a:buChar char="•"/>
            </a:pPr>
            <a:r>
              <a:rPr lang="en-US" b="1" dirty="0">
                <a:ea typeface="+mn-lt"/>
                <a:cs typeface="+mn-lt"/>
              </a:rPr>
              <a:t> Skill awareness</a:t>
            </a:r>
            <a:r>
              <a:rPr lang="en-US" dirty="0">
                <a:ea typeface="+mn-lt"/>
                <a:cs typeface="+mn-lt"/>
              </a:rPr>
              <a:t> </a:t>
            </a:r>
            <a:endParaRPr lang="en-US" dirty="0"/>
          </a:p>
          <a:p>
            <a:pPr marL="742950" lvl="1" indent="-285750">
              <a:buFont typeface="Arial"/>
              <a:buChar char="•"/>
            </a:pPr>
            <a:r>
              <a:rPr lang="en-US" b="1" dirty="0">
                <a:ea typeface="+mn-lt"/>
                <a:cs typeface="+mn-lt"/>
              </a:rPr>
              <a:t>Job suitability</a:t>
            </a:r>
            <a:r>
              <a:rPr lang="en-US" dirty="0">
                <a:ea typeface="+mn-lt"/>
                <a:cs typeface="+mn-lt"/>
              </a:rPr>
              <a:t> </a:t>
            </a:r>
            <a:endParaRPr lang="en-US" dirty="0"/>
          </a:p>
          <a:p>
            <a:pPr marL="742950" lvl="1" indent="-285750">
              <a:buFont typeface="Arial"/>
              <a:buChar char="•"/>
            </a:pPr>
            <a:r>
              <a:rPr lang="en-US" b="1" dirty="0">
                <a:ea typeface="+mn-lt"/>
                <a:cs typeface="+mn-lt"/>
              </a:rPr>
              <a:t>Improvement guidance</a:t>
            </a:r>
            <a:r>
              <a:rPr lang="en-US" dirty="0">
                <a:ea typeface="+mn-lt"/>
                <a:cs typeface="+mn-lt"/>
              </a:rPr>
              <a:t> </a:t>
            </a:r>
          </a:p>
          <a:p>
            <a:pPr marL="742950" lvl="1" indent="-285750">
              <a:buFont typeface="Arial"/>
              <a:buChar char="•"/>
            </a:pPr>
            <a:r>
              <a:rPr lang="en-US" b="1" dirty="0">
                <a:ea typeface="+mn-lt"/>
                <a:cs typeface="+mn-lt"/>
              </a:rPr>
              <a:t>Ease of job searching</a:t>
            </a:r>
          </a:p>
          <a:p>
            <a:pPr lvl="1"/>
            <a:endParaRPr lang="en-US" dirty="0"/>
          </a:p>
          <a:p>
            <a:r>
              <a:rPr lang="en-US" b="1" dirty="0"/>
              <a:t>Skill-Focused Resume Analysis</a:t>
            </a:r>
          </a:p>
          <a:p>
            <a:pPr marL="285750" indent="-285750">
              <a:buFont typeface="Arial"/>
              <a:buChar char="•"/>
            </a:pPr>
            <a:r>
              <a:rPr lang="en-US" dirty="0">
                <a:ea typeface="+mn-lt"/>
                <a:cs typeface="+mn-lt"/>
              </a:rPr>
              <a:t>Resume is processed to </a:t>
            </a:r>
            <a:r>
              <a:rPr lang="en-US" b="1" dirty="0">
                <a:ea typeface="+mn-lt"/>
                <a:cs typeface="+mn-lt"/>
              </a:rPr>
              <a:t>extract text and identify skills</a:t>
            </a:r>
            <a:r>
              <a:rPr lang="en-US" dirty="0">
                <a:ea typeface="+mn-lt"/>
                <a:cs typeface="+mn-lt"/>
              </a:rPr>
              <a:t> </a:t>
            </a:r>
          </a:p>
          <a:p>
            <a:pPr marL="285750" indent="-285750">
              <a:buFont typeface="Arial"/>
              <a:buChar char="•"/>
            </a:pPr>
            <a:r>
              <a:rPr lang="en-US" dirty="0">
                <a:ea typeface="+mn-lt"/>
                <a:cs typeface="+mn-lt"/>
              </a:rPr>
              <a:t>Skills are detected using: </a:t>
            </a:r>
            <a:endParaRPr lang="en-US" dirty="0"/>
          </a:p>
          <a:p>
            <a:pPr marL="742950" lvl="1" indent="-285750">
              <a:buFont typeface="Arial"/>
              <a:buChar char="•"/>
            </a:pPr>
            <a:r>
              <a:rPr lang="en-US" dirty="0">
                <a:ea typeface="+mn-lt"/>
                <a:cs typeface="+mn-lt"/>
              </a:rPr>
              <a:t>A </a:t>
            </a:r>
            <a:r>
              <a:rPr lang="en-US" b="1" dirty="0">
                <a:ea typeface="+mn-lt"/>
                <a:cs typeface="+mn-lt"/>
              </a:rPr>
              <a:t>structured skills dataset (CSV)</a:t>
            </a:r>
            <a:r>
              <a:rPr lang="en-US" dirty="0">
                <a:ea typeface="+mn-lt"/>
                <a:cs typeface="+mn-lt"/>
              </a:rPr>
              <a:t> </a:t>
            </a:r>
            <a:endParaRPr lang="en-US" dirty="0"/>
          </a:p>
          <a:p>
            <a:pPr marL="742950" lvl="1" indent="-285750">
              <a:buFont typeface="Arial"/>
              <a:buChar char="•"/>
            </a:pPr>
            <a:r>
              <a:rPr lang="en-US" b="1" dirty="0">
                <a:ea typeface="+mn-lt"/>
                <a:cs typeface="+mn-lt"/>
              </a:rPr>
              <a:t>Normalization techniques</a:t>
            </a:r>
            <a:r>
              <a:rPr lang="en-US" dirty="0">
                <a:ea typeface="+mn-lt"/>
                <a:cs typeface="+mn-lt"/>
              </a:rPr>
              <a:t> (lowercasing, cleaning) </a:t>
            </a:r>
            <a:endParaRPr lang="en-US" dirty="0"/>
          </a:p>
          <a:p>
            <a:pPr marL="742950" lvl="1" indent="-285750">
              <a:buFont typeface="Arial"/>
              <a:buChar char="•"/>
            </a:pPr>
            <a:r>
              <a:rPr lang="en-US" b="1" dirty="0">
                <a:ea typeface="+mn-lt"/>
                <a:cs typeface="+mn-lt"/>
              </a:rPr>
              <a:t>Alias mapping</a:t>
            </a:r>
            <a:r>
              <a:rPr lang="en-US" dirty="0">
                <a:ea typeface="+mn-lt"/>
                <a:cs typeface="+mn-lt"/>
              </a:rPr>
              <a:t> (e.g., </a:t>
            </a:r>
            <a:r>
              <a:rPr lang="en-US" i="1" dirty="0">
                <a:ea typeface="+mn-lt"/>
                <a:cs typeface="+mn-lt"/>
              </a:rPr>
              <a:t>ML → Machine Learning</a:t>
            </a:r>
            <a:r>
              <a:rPr lang="en-US" dirty="0">
                <a:ea typeface="+mn-lt"/>
                <a:cs typeface="+mn-lt"/>
              </a:rPr>
              <a:t>)</a:t>
            </a:r>
            <a:br>
              <a:rPr lang="en-US" dirty="0"/>
            </a:br>
            <a:endParaRPr lang="en-US" dirty="0"/>
          </a:p>
        </p:txBody>
      </p:sp>
      <p:sp>
        <p:nvSpPr>
          <p:cNvPr id="4" name="TextBox 3">
            <a:extLst>
              <a:ext uri="{FF2B5EF4-FFF2-40B4-BE49-F238E27FC236}">
                <a16:creationId xmlns:a16="http://schemas.microsoft.com/office/drawing/2014/main" id="{55C2A64C-024C-4309-E32D-A4D0054230A0}"/>
              </a:ext>
            </a:extLst>
          </p:cNvPr>
          <p:cNvSpPr txBox="1"/>
          <p:nvPr/>
        </p:nvSpPr>
        <p:spPr>
          <a:xfrm>
            <a:off x="416402" y="3231919"/>
            <a:ext cx="53210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Whereas  Our </a:t>
            </a:r>
            <a:r>
              <a:rPr lang="en-US"/>
              <a:t>approach</a:t>
            </a:r>
            <a:r>
              <a:rPr lang="en-US" dirty="0"/>
              <a:t> focuses on:</a:t>
            </a:r>
          </a:p>
        </p:txBody>
      </p:sp>
      <p:sp>
        <p:nvSpPr>
          <p:cNvPr id="5" name="TextBox 4">
            <a:extLst>
              <a:ext uri="{FF2B5EF4-FFF2-40B4-BE49-F238E27FC236}">
                <a16:creationId xmlns:a16="http://schemas.microsoft.com/office/drawing/2014/main" id="{BFE64898-DDE0-6B48-3AC7-9A572493F1FF}"/>
              </a:ext>
            </a:extLst>
          </p:cNvPr>
          <p:cNvSpPr txBox="1"/>
          <p:nvPr/>
        </p:nvSpPr>
        <p:spPr>
          <a:xfrm>
            <a:off x="6856907" y="3227374"/>
            <a:ext cx="467219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Job Recommendation Using Skill Matching</a:t>
            </a:r>
          </a:p>
          <a:p>
            <a:pPr marL="285750" indent="-285750">
              <a:buFont typeface="Arial"/>
              <a:buChar char="•"/>
            </a:pPr>
            <a:r>
              <a:rPr lang="en-US">
                <a:ea typeface="+mn-lt"/>
                <a:cs typeface="+mn-lt"/>
              </a:rPr>
              <a:t>Job roles are stored with required skills in a dataset </a:t>
            </a:r>
            <a:endParaRPr lang="en-US"/>
          </a:p>
          <a:p>
            <a:pPr marL="285750" indent="-285750">
              <a:buFont typeface="Arial"/>
              <a:buChar char="•"/>
            </a:pPr>
            <a:r>
              <a:rPr lang="en-US">
                <a:ea typeface="+mn-lt"/>
                <a:cs typeface="+mn-lt"/>
              </a:rPr>
              <a:t>System compares: </a:t>
            </a:r>
            <a:endParaRPr lang="en-US"/>
          </a:p>
          <a:p>
            <a:pPr marL="742950" lvl="1" indent="-285750">
              <a:buFont typeface="Arial"/>
              <a:buChar char="•"/>
            </a:pPr>
            <a:r>
              <a:rPr lang="en-US" b="1">
                <a:ea typeface="+mn-lt"/>
                <a:cs typeface="+mn-lt"/>
              </a:rPr>
              <a:t>User skills vs Job skills</a:t>
            </a:r>
            <a:r>
              <a:rPr lang="en-US" dirty="0">
                <a:ea typeface="+mn-lt"/>
                <a:cs typeface="+mn-lt"/>
              </a:rPr>
              <a:t> </a:t>
            </a:r>
            <a:endParaRPr lang="en-US" dirty="0"/>
          </a:p>
          <a:p>
            <a:pPr marL="285750" indent="-285750">
              <a:buFont typeface="Arial"/>
              <a:buChar char="•"/>
            </a:pPr>
            <a:r>
              <a:rPr lang="en-US">
                <a:ea typeface="+mn-lt"/>
                <a:cs typeface="+mn-lt"/>
              </a:rPr>
              <a:t>Each job is ranked based on: </a:t>
            </a:r>
            <a:endParaRPr lang="en-US"/>
          </a:p>
          <a:p>
            <a:pPr marL="742950" lvl="1" indent="-285750">
              <a:buFont typeface="Arial"/>
              <a:buChar char="•"/>
            </a:pPr>
            <a:r>
              <a:rPr lang="en-US" b="1">
                <a:ea typeface="+mn-lt"/>
                <a:cs typeface="+mn-lt"/>
              </a:rPr>
              <a:t>Percentage of matching skills</a:t>
            </a:r>
            <a:endParaRPr lang="en-US"/>
          </a:p>
          <a:p>
            <a:pPr algn="l"/>
            <a:endParaRPr lang="en-US" dirty="0"/>
          </a:p>
        </p:txBody>
      </p:sp>
    </p:spTree>
    <p:extLst>
      <p:ext uri="{BB962C8B-B14F-4D97-AF65-F5344CB8AC3E}">
        <p14:creationId xmlns:p14="http://schemas.microsoft.com/office/powerpoint/2010/main" val="2590506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7020" y="484173"/>
            <a:ext cx="11305256" cy="6186309"/>
          </a:xfrm>
          <a:prstGeom prst="rect">
            <a:avLst/>
          </a:prstGeom>
          <a:noFill/>
        </p:spPr>
        <p:txBody>
          <a:bodyPr wrap="square" lIns="91440" tIns="45720" rIns="91440" bIns="45720" rtlCol="0" anchor="t">
            <a:spAutoFit/>
          </a:bodyPr>
          <a:lstStyle/>
          <a:p>
            <a:r>
              <a:rPr lang="en-US" b="1" dirty="0"/>
              <a:t>Skill Gap Analysis:</a:t>
            </a:r>
          </a:p>
          <a:p>
            <a:pPr marL="285750" indent="-285750">
              <a:buFont typeface="Arial"/>
              <a:buChar char="•"/>
            </a:pPr>
            <a:r>
              <a:rPr lang="en-US" dirty="0">
                <a:ea typeface="+mn-lt"/>
                <a:cs typeface="+mn-lt"/>
              </a:rPr>
              <a:t>Compares: </a:t>
            </a:r>
            <a:endParaRPr lang="en-US" dirty="0"/>
          </a:p>
          <a:p>
            <a:pPr marL="742950" lvl="1" indent="-285750">
              <a:buFont typeface="Arial"/>
              <a:buChar char="•"/>
            </a:pPr>
            <a:r>
              <a:rPr lang="en-US" b="1" dirty="0">
                <a:ea typeface="+mn-lt"/>
                <a:cs typeface="+mn-lt"/>
              </a:rPr>
              <a:t>Skills required for a selected job role</a:t>
            </a:r>
            <a:r>
              <a:rPr lang="en-US" dirty="0">
                <a:ea typeface="+mn-lt"/>
                <a:cs typeface="+mn-lt"/>
              </a:rPr>
              <a:t> </a:t>
            </a:r>
            <a:endParaRPr lang="en-US" dirty="0"/>
          </a:p>
          <a:p>
            <a:pPr marL="742950" lvl="1" indent="-285750">
              <a:buFont typeface="Arial"/>
              <a:buChar char="•"/>
            </a:pPr>
            <a:r>
              <a:rPr lang="en-US" b="1" dirty="0">
                <a:ea typeface="+mn-lt"/>
                <a:cs typeface="+mn-lt"/>
              </a:rPr>
              <a:t>User’s extracted skills</a:t>
            </a:r>
            <a:r>
              <a:rPr lang="en-US" dirty="0">
                <a:ea typeface="+mn-lt"/>
                <a:cs typeface="+mn-lt"/>
              </a:rPr>
              <a:t> </a:t>
            </a:r>
          </a:p>
          <a:p>
            <a:pPr marL="285750" indent="-285750">
              <a:buFont typeface="Arial"/>
              <a:buChar char="•"/>
            </a:pPr>
            <a:r>
              <a:rPr lang="en-US" dirty="0">
                <a:ea typeface="+mn-lt"/>
                <a:cs typeface="+mn-lt"/>
              </a:rPr>
              <a:t>Identifies </a:t>
            </a:r>
            <a:r>
              <a:rPr lang="en-US" b="1" dirty="0">
                <a:ea typeface="+mn-lt"/>
                <a:cs typeface="+mn-lt"/>
              </a:rPr>
              <a:t>missing skills </a:t>
            </a:r>
            <a:br>
              <a:rPr lang="en-US" dirty="0"/>
            </a:br>
            <a:endParaRPr lang="en-US" dirty="0"/>
          </a:p>
          <a:p>
            <a:r>
              <a:rPr lang="en-US" b="1" dirty="0"/>
              <a:t>Use of a Unified Skills Dataset:</a:t>
            </a:r>
          </a:p>
          <a:p>
            <a:pPr marL="285750" indent="-285750">
              <a:buFont typeface="Arial"/>
              <a:buChar char="•"/>
            </a:pPr>
            <a:r>
              <a:rPr lang="en-US" dirty="0">
                <a:ea typeface="+mn-lt"/>
                <a:cs typeface="+mn-lt"/>
              </a:rPr>
              <a:t>A single </a:t>
            </a:r>
            <a:r>
              <a:rPr lang="en-US" b="1" dirty="0">
                <a:ea typeface="+mn-lt"/>
                <a:cs typeface="+mn-lt"/>
              </a:rPr>
              <a:t>CSV dataset</a:t>
            </a:r>
            <a:r>
              <a:rPr lang="en-US" dirty="0">
                <a:ea typeface="+mn-lt"/>
                <a:cs typeface="+mn-lt"/>
              </a:rPr>
              <a:t> is used for: </a:t>
            </a:r>
            <a:endParaRPr lang="en-US" dirty="0"/>
          </a:p>
          <a:p>
            <a:pPr marL="742950" lvl="1" indent="-285750">
              <a:buFont typeface="Arial"/>
              <a:buChar char="•"/>
            </a:pPr>
            <a:r>
              <a:rPr lang="en-US" dirty="0">
                <a:ea typeface="+mn-lt"/>
                <a:cs typeface="+mn-lt"/>
              </a:rPr>
              <a:t>Job roles </a:t>
            </a:r>
          </a:p>
          <a:p>
            <a:pPr marL="742950" lvl="1" indent="-285750">
              <a:buFont typeface="Arial"/>
              <a:buChar char="•"/>
            </a:pPr>
            <a:r>
              <a:rPr lang="en-US" dirty="0">
                <a:ea typeface="+mn-lt"/>
                <a:cs typeface="+mn-lt"/>
              </a:rPr>
              <a:t>Required skills </a:t>
            </a:r>
            <a:endParaRPr lang="en-US" dirty="0"/>
          </a:p>
          <a:p>
            <a:pPr marL="285750" indent="-285750">
              <a:buFont typeface="Arial"/>
              <a:buChar char="•"/>
            </a:pPr>
            <a:r>
              <a:rPr lang="en-US" dirty="0">
                <a:ea typeface="+mn-lt"/>
                <a:cs typeface="+mn-lt"/>
              </a:rPr>
              <a:t>Ensures: </a:t>
            </a:r>
            <a:r>
              <a:rPr lang="en-US" b="1" dirty="0">
                <a:ea typeface="+mn-lt"/>
                <a:cs typeface="+mn-lt"/>
              </a:rPr>
              <a:t>Consistency across modules</a:t>
            </a:r>
            <a:r>
              <a:rPr lang="en-US" dirty="0">
                <a:ea typeface="+mn-lt"/>
                <a:cs typeface="+mn-lt"/>
              </a:rPr>
              <a:t> </a:t>
            </a:r>
            <a:br>
              <a:rPr lang="en-US" dirty="0"/>
            </a:br>
            <a:endParaRPr lang="en-US" b="1" dirty="0"/>
          </a:p>
          <a:p>
            <a:r>
              <a:rPr lang="en-US" b="1" dirty="0"/>
              <a:t>Skill Normalization and Noise Reduction:</a:t>
            </a:r>
          </a:p>
          <a:p>
            <a:pPr marL="285750" indent="-285750">
              <a:buFont typeface="Arial"/>
              <a:buChar char="•"/>
            </a:pPr>
            <a:r>
              <a:rPr lang="en-US" dirty="0">
                <a:ea typeface="+mn-lt"/>
                <a:cs typeface="+mn-lt"/>
              </a:rPr>
              <a:t>Applies preprocessing techniques: </a:t>
            </a:r>
            <a:endParaRPr lang="en-US" dirty="0"/>
          </a:p>
          <a:p>
            <a:pPr marL="742950" lvl="1" indent="-285750">
              <a:buFont typeface="Arial"/>
              <a:buChar char="•"/>
            </a:pPr>
            <a:r>
              <a:rPr lang="en-US" b="1" dirty="0">
                <a:ea typeface="+mn-lt"/>
                <a:cs typeface="+mn-lt"/>
              </a:rPr>
              <a:t>Lowercasing text</a:t>
            </a:r>
            <a:r>
              <a:rPr lang="en-US" dirty="0">
                <a:ea typeface="+mn-lt"/>
                <a:cs typeface="+mn-lt"/>
              </a:rPr>
              <a:t> </a:t>
            </a:r>
            <a:endParaRPr lang="en-US" dirty="0"/>
          </a:p>
          <a:p>
            <a:pPr marL="742950" lvl="1" indent="-285750">
              <a:buFont typeface="Arial"/>
              <a:buChar char="•"/>
            </a:pPr>
            <a:r>
              <a:rPr lang="en-US" b="1" dirty="0">
                <a:ea typeface="+mn-lt"/>
                <a:cs typeface="+mn-lt"/>
              </a:rPr>
              <a:t>Removing special characters</a:t>
            </a:r>
            <a:r>
              <a:rPr lang="en-US" dirty="0">
                <a:ea typeface="+mn-lt"/>
                <a:cs typeface="+mn-lt"/>
              </a:rPr>
              <a:t> </a:t>
            </a:r>
            <a:endParaRPr lang="en-US" dirty="0"/>
          </a:p>
          <a:p>
            <a:pPr marL="742950" lvl="1" indent="-285750">
              <a:buFont typeface="Arial"/>
              <a:buChar char="•"/>
            </a:pPr>
            <a:r>
              <a:rPr lang="en-US" b="1" dirty="0">
                <a:ea typeface="+mn-lt"/>
                <a:cs typeface="+mn-lt"/>
              </a:rPr>
              <a:t>Cleaning extra spaces</a:t>
            </a:r>
            <a:r>
              <a:rPr lang="en-US" dirty="0">
                <a:ea typeface="+mn-lt"/>
                <a:cs typeface="+mn-lt"/>
              </a:rPr>
              <a:t> </a:t>
            </a:r>
            <a:endParaRPr lang="en-US" dirty="0"/>
          </a:p>
          <a:p>
            <a:pPr marL="285750" indent="-285750">
              <a:buFont typeface="Arial"/>
              <a:buChar char="•"/>
            </a:pPr>
            <a:r>
              <a:rPr lang="en-US" dirty="0">
                <a:ea typeface="+mn-lt"/>
                <a:cs typeface="+mn-lt"/>
              </a:rPr>
              <a:t>Uses: </a:t>
            </a:r>
            <a:endParaRPr lang="en-US" dirty="0"/>
          </a:p>
          <a:p>
            <a:pPr marL="742950" lvl="1" indent="-285750">
              <a:buFont typeface="Arial"/>
              <a:buChar char="•"/>
            </a:pPr>
            <a:r>
              <a:rPr lang="en-US" b="1" dirty="0">
                <a:ea typeface="+mn-lt"/>
                <a:cs typeface="+mn-lt"/>
              </a:rPr>
              <a:t>Alias mapping</a:t>
            </a:r>
            <a:r>
              <a:rPr lang="en-US" dirty="0">
                <a:ea typeface="+mn-lt"/>
                <a:cs typeface="+mn-lt"/>
              </a:rPr>
              <a:t> (e.g., ML → Machine Learning) </a:t>
            </a:r>
            <a:endParaRPr lang="en-US" dirty="0"/>
          </a:p>
          <a:p>
            <a:pPr marL="742950" lvl="1" indent="-285750">
              <a:buFont typeface="Arial"/>
              <a:buChar char="•"/>
            </a:pPr>
            <a:r>
              <a:rPr lang="en-US" b="1" dirty="0" err="1">
                <a:ea typeface="+mn-lt"/>
                <a:cs typeface="+mn-lt"/>
              </a:rPr>
              <a:t>Stopword</a:t>
            </a:r>
            <a:r>
              <a:rPr lang="en-US" b="1" dirty="0">
                <a:ea typeface="+mn-lt"/>
                <a:cs typeface="+mn-lt"/>
              </a:rPr>
              <a:t> removal</a:t>
            </a:r>
            <a:r>
              <a:rPr lang="en-US" dirty="0">
                <a:ea typeface="+mn-lt"/>
                <a:cs typeface="+mn-lt"/>
              </a:rPr>
              <a:t> </a:t>
            </a:r>
          </a:p>
          <a:p>
            <a:pPr lvl="1"/>
            <a:endParaRPr lang="en-US" b="1" dirty="0"/>
          </a:p>
          <a:p>
            <a:endParaRPr lang="en-US" dirty="0"/>
          </a:p>
        </p:txBody>
      </p:sp>
      <p:sp>
        <p:nvSpPr>
          <p:cNvPr id="3" name="TextBox 2">
            <a:extLst>
              <a:ext uri="{FF2B5EF4-FFF2-40B4-BE49-F238E27FC236}">
                <a16:creationId xmlns:a16="http://schemas.microsoft.com/office/drawing/2014/main" id="{7A48DD57-F847-5EC0-B5A8-14F96CE0992A}"/>
              </a:ext>
            </a:extLst>
          </p:cNvPr>
          <p:cNvSpPr txBox="1"/>
          <p:nvPr/>
        </p:nvSpPr>
        <p:spPr>
          <a:xfrm>
            <a:off x="6094412" y="484173"/>
            <a:ext cx="473085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a:t>
            </a:r>
            <a:r>
              <a:rPr lang="en-US" b="1" dirty="0"/>
              <a:t>Handling Outdated Skills:</a:t>
            </a:r>
          </a:p>
          <a:p>
            <a:pPr marL="285750" indent="-285750">
              <a:buFont typeface="Arial,Sans-Serif"/>
              <a:buChar char="•"/>
            </a:pPr>
            <a:r>
              <a:rPr lang="en-US" dirty="0"/>
              <a:t>Detects </a:t>
            </a:r>
            <a:r>
              <a:rPr lang="en-US" b="1" dirty="0"/>
              <a:t>outdated technologies</a:t>
            </a:r>
            <a:r>
              <a:rPr lang="en-US" dirty="0"/>
              <a:t> in resume </a:t>
            </a:r>
          </a:p>
          <a:p>
            <a:pPr marL="285750" indent="-285750">
              <a:buFont typeface="Arial,Sans-Serif"/>
              <a:buChar char="•"/>
            </a:pPr>
            <a:r>
              <a:rPr lang="en-US" dirty="0"/>
              <a:t>Uses a predefined mapping of: </a:t>
            </a:r>
          </a:p>
          <a:p>
            <a:pPr marL="742950" lvl="1" indent="-285750">
              <a:buFont typeface="Arial,Sans-Serif"/>
              <a:buChar char="•"/>
            </a:pPr>
            <a:r>
              <a:rPr lang="en-US" dirty="0"/>
              <a:t>Old skills → Modern alternatives </a:t>
            </a:r>
          </a:p>
          <a:p>
            <a:pPr marL="742950" lvl="1" indent="-285750">
              <a:buFont typeface="Arial,Sans-Serif"/>
              <a:buChar char="•"/>
            </a:pPr>
            <a:endParaRPr lang="en-US" dirty="0"/>
          </a:p>
          <a:p>
            <a:r>
              <a:rPr lang="en-US" b="1" dirty="0"/>
              <a:t>Streamlined and Interactive Interface:</a:t>
            </a:r>
          </a:p>
          <a:p>
            <a:pPr marL="285750" indent="-285750">
              <a:buFont typeface="Arial,Sans-Serif"/>
              <a:buChar char="•"/>
            </a:pPr>
            <a:r>
              <a:rPr lang="en-US" dirty="0"/>
              <a:t>Provides a </a:t>
            </a:r>
            <a:r>
              <a:rPr lang="en-US" b="1" dirty="0"/>
              <a:t>simple user interface</a:t>
            </a:r>
            <a:r>
              <a:rPr lang="en-US" dirty="0"/>
              <a:t> for the entire workflow </a:t>
            </a:r>
          </a:p>
          <a:p>
            <a:pPr marL="285750" indent="-285750">
              <a:buFont typeface="Arial,Sans-Serif"/>
              <a:buChar char="•"/>
            </a:pPr>
            <a:r>
              <a:rPr lang="en-US" dirty="0"/>
              <a:t>Users can: </a:t>
            </a:r>
          </a:p>
          <a:p>
            <a:pPr marL="742950" lvl="1" indent="-285750">
              <a:buFont typeface="Arial,Sans-Serif"/>
              <a:buChar char="•"/>
            </a:pPr>
            <a:r>
              <a:rPr lang="en-US" dirty="0"/>
              <a:t>Upload resume </a:t>
            </a:r>
          </a:p>
          <a:p>
            <a:pPr marL="742950" lvl="1" indent="-285750">
              <a:buFont typeface="Arial,Sans-Serif"/>
              <a:buChar char="•"/>
            </a:pPr>
            <a:r>
              <a:rPr lang="en-US" dirty="0"/>
              <a:t>View extracted skills </a:t>
            </a:r>
          </a:p>
          <a:p>
            <a:pPr marL="742950" lvl="1" indent="-285750">
              <a:buFont typeface="Arial,Sans-Serif"/>
              <a:buChar char="•"/>
            </a:pPr>
            <a:r>
              <a:rPr lang="en-US" dirty="0"/>
              <a:t>See job recommendations </a:t>
            </a:r>
          </a:p>
          <a:p>
            <a:pPr marL="742950" lvl="1" indent="-285750">
              <a:buFont typeface="Arial,Sans-Serif"/>
              <a:buChar char="•"/>
            </a:pPr>
            <a:r>
              <a:rPr lang="en-US" dirty="0"/>
              <a:t>Analyze skill gaps </a:t>
            </a:r>
          </a:p>
        </p:txBody>
      </p:sp>
    </p:spTree>
    <p:extLst>
      <p:ext uri="{BB962C8B-B14F-4D97-AF65-F5344CB8AC3E}">
        <p14:creationId xmlns:p14="http://schemas.microsoft.com/office/powerpoint/2010/main" val="173572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CDB484-C8B8-8D9B-9D24-2D7E3DCDC41E}"/>
              </a:ext>
            </a:extLst>
          </p:cNvPr>
          <p:cNvSpPr txBox="1"/>
          <p:nvPr/>
        </p:nvSpPr>
        <p:spPr>
          <a:xfrm>
            <a:off x="333772" y="620688"/>
            <a:ext cx="10657184" cy="5078313"/>
          </a:xfrm>
          <a:prstGeom prst="rect">
            <a:avLst/>
          </a:prstGeom>
          <a:noFill/>
        </p:spPr>
        <p:txBody>
          <a:bodyPr wrap="square" rtlCol="0">
            <a:spAutoFit/>
          </a:bodyPr>
          <a:lstStyle/>
          <a:p>
            <a:r>
              <a:rPr lang="en-IN" b="1" dirty="0"/>
              <a:t>Hiring Companies Module:</a:t>
            </a:r>
            <a:endParaRPr lang="en-IN" dirty="0"/>
          </a:p>
          <a:p>
            <a:r>
              <a:rPr lang="en-IN" dirty="0"/>
              <a:t> Provides company recommendations based on the selected job role from the job matching module</a:t>
            </a:r>
            <a:br>
              <a:rPr lang="en-IN" dirty="0"/>
            </a:br>
            <a:r>
              <a:rPr lang="en-IN" dirty="0"/>
              <a:t>• Displays key hiring information including:</a:t>
            </a:r>
            <a:br>
              <a:rPr lang="en-IN" dirty="0"/>
            </a:br>
            <a:r>
              <a:rPr lang="en-IN" dirty="0"/>
              <a:t>• Company names</a:t>
            </a:r>
            <a:br>
              <a:rPr lang="en-IN" dirty="0"/>
            </a:br>
            <a:r>
              <a:rPr lang="en-IN" dirty="0"/>
              <a:t>• Available job titles</a:t>
            </a:r>
            <a:br>
              <a:rPr lang="en-IN" dirty="0"/>
            </a:br>
            <a:r>
              <a:rPr lang="en-IN" dirty="0"/>
              <a:t>• Job locations in India</a:t>
            </a:r>
            <a:br>
              <a:rPr lang="en-IN" dirty="0"/>
            </a:br>
            <a:r>
              <a:rPr lang="en-IN" dirty="0"/>
              <a:t>• Employment type (Full-time, Part-time, Contract, etc.)</a:t>
            </a:r>
            <a:br>
              <a:rPr lang="en-IN" dirty="0"/>
            </a:br>
            <a:r>
              <a:rPr lang="en-IN" dirty="0"/>
              <a:t>• Salary range (when available)</a:t>
            </a:r>
            <a:br>
              <a:rPr lang="en-IN" dirty="0"/>
            </a:br>
            <a:r>
              <a:rPr lang="en-IN" dirty="0"/>
              <a:t>• Direct application links (uses rapid Api (Jsearch)</a:t>
            </a:r>
          </a:p>
          <a:p>
            <a:endParaRPr lang="en-IN" dirty="0"/>
          </a:p>
          <a:p>
            <a:endParaRPr lang="en-IN" dirty="0"/>
          </a:p>
          <a:p>
            <a:r>
              <a:rPr lang="en-IN" b="1" dirty="0"/>
              <a:t>Chatbot Module:</a:t>
            </a:r>
          </a:p>
          <a:p>
            <a:pPr marL="285750" indent="-285750">
              <a:buFont typeface="Arial" panose="020B0604020202020204" pitchFamily="34" charset="0"/>
              <a:buChar char="•"/>
            </a:pPr>
            <a:r>
              <a:rPr lang="en-IN" dirty="0"/>
              <a:t>Provides personalized career guidance using resume and skill analysis.</a:t>
            </a:r>
          </a:p>
          <a:p>
            <a:pPr marL="285750" indent="-285750">
              <a:buFont typeface="Arial" panose="020B0604020202020204" pitchFamily="34" charset="0"/>
              <a:buChar char="•"/>
            </a:pPr>
            <a:r>
              <a:rPr lang="en-IN" dirty="0"/>
              <a:t>Recommends suitable job roles and identifies skill gaps.</a:t>
            </a:r>
          </a:p>
          <a:p>
            <a:pPr marL="285750" indent="-285750">
              <a:buFont typeface="Arial" panose="020B0604020202020204" pitchFamily="34" charset="0"/>
              <a:buChar char="•"/>
            </a:pPr>
            <a:r>
              <a:rPr lang="en-IN" dirty="0"/>
              <a:t>Suggests trending skills, learning paths, and career roadmaps.</a:t>
            </a:r>
          </a:p>
          <a:p>
            <a:pPr marL="285750" indent="-285750">
              <a:buFont typeface="Arial" panose="020B0604020202020204" pitchFamily="34" charset="0"/>
              <a:buChar char="•"/>
            </a:pPr>
            <a:r>
              <a:rPr lang="en-IN" dirty="0"/>
              <a:t>Uses </a:t>
            </a:r>
            <a:r>
              <a:rPr lang="en-IN" dirty="0" err="1"/>
              <a:t>Streamlit</a:t>
            </a:r>
            <a:r>
              <a:rPr lang="en-IN" dirty="0"/>
              <a:t> and </a:t>
            </a:r>
            <a:r>
              <a:rPr lang="en-IN" dirty="0" err="1"/>
              <a:t>Groq</a:t>
            </a:r>
            <a:r>
              <a:rPr lang="en-IN" dirty="0"/>
              <a:t> LLM for an interactive AI career mentor.</a:t>
            </a:r>
          </a:p>
          <a:p>
            <a:pPr marL="285750" indent="-285750">
              <a:buFont typeface="Arial" panose="020B0604020202020204" pitchFamily="34" charset="0"/>
              <a:buChar char="•"/>
            </a:pPr>
            <a:r>
              <a:rPr lang="en-IN" dirty="0"/>
              <a:t>Supports user authentication and saves chat history for future access.</a:t>
            </a:r>
          </a:p>
          <a:p>
            <a:endParaRPr lang="en-IN" dirty="0"/>
          </a:p>
        </p:txBody>
      </p:sp>
    </p:spTree>
    <p:extLst>
      <p:ext uri="{BB962C8B-B14F-4D97-AF65-F5344CB8AC3E}">
        <p14:creationId xmlns:p14="http://schemas.microsoft.com/office/powerpoint/2010/main" val="2382826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11C51D-7924-9B96-D4BF-5876488E5432}"/>
              </a:ext>
            </a:extLst>
          </p:cNvPr>
          <p:cNvSpPr txBox="1"/>
          <p:nvPr/>
        </p:nvSpPr>
        <p:spPr>
          <a:xfrm>
            <a:off x="693812" y="764704"/>
            <a:ext cx="8064896" cy="3139321"/>
          </a:xfrm>
          <a:prstGeom prst="rect">
            <a:avLst/>
          </a:prstGeom>
          <a:noFill/>
        </p:spPr>
        <p:txBody>
          <a:bodyPr wrap="square" rtlCol="0">
            <a:spAutoFit/>
          </a:bodyPr>
          <a:lstStyle/>
          <a:p>
            <a:r>
              <a:rPr lang="en-IN" b="1" dirty="0"/>
              <a:t>Authentication &amp; Chat History Module:</a:t>
            </a:r>
            <a:endParaRPr lang="en-IN" dirty="0"/>
          </a:p>
          <a:p>
            <a:pPr marL="285750" indent="-285750">
              <a:lnSpc>
                <a:spcPct val="150000"/>
              </a:lnSpc>
              <a:buFont typeface="Arial" panose="020B0604020202020204" pitchFamily="34" charset="0"/>
              <a:buChar char="•"/>
            </a:pPr>
            <a:r>
              <a:rPr lang="en-IN" b="1" dirty="0"/>
              <a:t>User Authentication:</a:t>
            </a:r>
            <a:r>
              <a:rPr lang="en-IN" dirty="0"/>
              <a:t> Secure signup and login functionality.</a:t>
            </a:r>
          </a:p>
          <a:p>
            <a:pPr marL="285750" indent="-285750">
              <a:lnSpc>
                <a:spcPct val="150000"/>
              </a:lnSpc>
              <a:buFont typeface="Arial" panose="020B0604020202020204" pitchFamily="34" charset="0"/>
              <a:buChar char="•"/>
            </a:pPr>
            <a:r>
              <a:rPr lang="en-IN" b="1" dirty="0"/>
              <a:t>Session Management:</a:t>
            </a:r>
            <a:r>
              <a:rPr lang="en-IN" dirty="0"/>
              <a:t> Maintains user identity during usage.</a:t>
            </a:r>
          </a:p>
          <a:p>
            <a:pPr marL="285750" indent="-285750">
              <a:lnSpc>
                <a:spcPct val="150000"/>
              </a:lnSpc>
              <a:buFont typeface="Arial" panose="020B0604020202020204" pitchFamily="34" charset="0"/>
              <a:buChar char="•"/>
            </a:pPr>
            <a:r>
              <a:rPr lang="en-IN" b="1" dirty="0"/>
              <a:t>Personalized Access:</a:t>
            </a:r>
            <a:r>
              <a:rPr lang="en-IN" dirty="0"/>
              <a:t> Users can view only their own data and chats.</a:t>
            </a:r>
          </a:p>
          <a:p>
            <a:pPr marL="285750" indent="-285750">
              <a:lnSpc>
                <a:spcPct val="150000"/>
              </a:lnSpc>
              <a:buFont typeface="Arial" panose="020B0604020202020204" pitchFamily="34" charset="0"/>
              <a:buChar char="•"/>
            </a:pPr>
            <a:r>
              <a:rPr lang="en-IN" b="1" dirty="0"/>
              <a:t>Persistent Chat History:</a:t>
            </a:r>
            <a:r>
              <a:rPr lang="en-IN" dirty="0"/>
              <a:t> Saves and restores previous conversations.</a:t>
            </a:r>
          </a:p>
          <a:p>
            <a:pPr marL="285750" indent="-285750">
              <a:lnSpc>
                <a:spcPct val="150000"/>
              </a:lnSpc>
              <a:buFont typeface="Arial" panose="020B0604020202020204" pitchFamily="34" charset="0"/>
              <a:buChar char="•"/>
            </a:pPr>
            <a:r>
              <a:rPr lang="en-IN" b="1" dirty="0"/>
              <a:t>Chat Management &amp; Privacy:</a:t>
            </a:r>
            <a:r>
              <a:rPr lang="en-IN" dirty="0"/>
              <a:t> Supports new chats, chat retrieval, and organized user-specific storage.</a:t>
            </a:r>
          </a:p>
          <a:p>
            <a:endParaRPr lang="en-IN" dirty="0"/>
          </a:p>
        </p:txBody>
      </p:sp>
    </p:spTree>
    <p:extLst>
      <p:ext uri="{BB962C8B-B14F-4D97-AF65-F5344CB8AC3E}">
        <p14:creationId xmlns:p14="http://schemas.microsoft.com/office/powerpoint/2010/main" val="3701728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1764" y="476672"/>
            <a:ext cx="11305256" cy="6063198"/>
          </a:xfrm>
          <a:prstGeom prst="rect">
            <a:avLst/>
          </a:prstGeom>
          <a:noFill/>
        </p:spPr>
        <p:txBody>
          <a:bodyPr wrap="square" rtlCol="0">
            <a:spAutoFit/>
          </a:bodyPr>
          <a:lstStyle/>
          <a:p>
            <a:r>
              <a:rPr lang="en-US" sz="3200" b="1" dirty="0"/>
              <a:t>Performance Evaluation of the Proposed Model</a:t>
            </a:r>
          </a:p>
          <a:p>
            <a:endParaRPr lang="en-US" sz="3200" b="1" dirty="0"/>
          </a:p>
          <a:p>
            <a:r>
              <a:rPr lang="en-US" dirty="0"/>
              <a:t>The performance of the proposed </a:t>
            </a:r>
            <a:r>
              <a:rPr lang="en-US" b="1" dirty="0"/>
              <a:t>Skill-Based Career Analyzer</a:t>
            </a:r>
            <a:r>
              <a:rPr lang="en-US" dirty="0"/>
              <a:t> is evaluated based on its accuracy, relevance, and efficiency in extracting skills, recommending jobs, and identifying skill gaps. Since the system is primarily rule-based and dataset-driven, evaluation focuses on practical metrics rather than complex machine learning measures.</a:t>
            </a:r>
          </a:p>
          <a:p>
            <a:endParaRPr lang="en-US" dirty="0"/>
          </a:p>
          <a:p>
            <a:r>
              <a:rPr lang="en-US" b="1" dirty="0"/>
              <a:t>1. Skill Extraction Accuracy</a:t>
            </a:r>
            <a:br>
              <a:rPr lang="en-US" dirty="0"/>
            </a:br>
            <a:r>
              <a:rPr lang="en-US" dirty="0"/>
              <a:t>The system evaluates how accurately it extracts relevant skills from the resume. This is measured by comparing extracted skills with expected skills from sample resumes.</a:t>
            </a:r>
          </a:p>
          <a:p>
            <a:pPr marL="285750" indent="-285750">
              <a:buFont typeface="Arial" panose="020B0604020202020204" pitchFamily="34" charset="0"/>
              <a:buChar char="•"/>
            </a:pPr>
            <a:r>
              <a:rPr lang="en-US" dirty="0"/>
              <a:t>Use of normalization and alias mapping improves accuracy. </a:t>
            </a:r>
          </a:p>
          <a:p>
            <a:pPr marL="285750" indent="-285750">
              <a:buFont typeface="Arial" panose="020B0604020202020204" pitchFamily="34" charset="0"/>
              <a:buChar char="•"/>
            </a:pPr>
            <a:r>
              <a:rPr lang="en-US" dirty="0"/>
              <a:t>Noise reduction techniques help eliminate irrelevant words.</a:t>
            </a:r>
            <a:br>
              <a:rPr lang="en-US" dirty="0"/>
            </a:br>
            <a:r>
              <a:rPr lang="en-US" dirty="0"/>
              <a:t>This ensures that the extracted skills closely represent the user’s actual profile.</a:t>
            </a:r>
          </a:p>
          <a:p>
            <a:endParaRPr lang="en-US" dirty="0"/>
          </a:p>
          <a:p>
            <a:r>
              <a:rPr lang="en-US" b="1" dirty="0"/>
              <a:t>2. Job Recommendation Relevance</a:t>
            </a:r>
            <a:br>
              <a:rPr lang="en-US" dirty="0"/>
            </a:br>
            <a:r>
              <a:rPr lang="en-US" dirty="0"/>
              <a:t>The effectiveness of job recommendations is evaluated using </a:t>
            </a:r>
            <a:r>
              <a:rPr lang="en-US" b="1" dirty="0"/>
              <a:t>skill matching score (overlap count)</a:t>
            </a:r>
            <a:r>
              <a:rPr lang="en-US" dirty="0"/>
              <a:t> between user skills and job requirements.</a:t>
            </a:r>
          </a:p>
          <a:p>
            <a:pPr marL="285750" indent="-285750">
              <a:buFont typeface="Arial" panose="020B0604020202020204" pitchFamily="34" charset="0"/>
              <a:buChar char="•"/>
            </a:pPr>
            <a:r>
              <a:rPr lang="en-US" dirty="0"/>
              <a:t>Jobs are ranked based on the number of matching skills. </a:t>
            </a:r>
          </a:p>
          <a:p>
            <a:pPr marL="285750" indent="-285750">
              <a:buFont typeface="Arial" panose="020B0604020202020204" pitchFamily="34" charset="0"/>
              <a:buChar char="•"/>
            </a:pPr>
            <a:r>
              <a:rPr lang="en-US" dirty="0"/>
              <a:t>Top-N (e.g., Top 5) jobs are displayed.</a:t>
            </a:r>
            <a:br>
              <a:rPr lang="en-US" dirty="0"/>
            </a:br>
            <a:r>
              <a:rPr lang="en-US" dirty="0"/>
              <a:t>Higher overlap indicates better relevance of recommendations.</a:t>
            </a:r>
          </a:p>
          <a:p>
            <a:endParaRPr lang="en-US" dirty="0"/>
          </a:p>
        </p:txBody>
      </p:sp>
    </p:spTree>
    <p:extLst>
      <p:ext uri="{BB962C8B-B14F-4D97-AF65-F5344CB8AC3E}">
        <p14:creationId xmlns:p14="http://schemas.microsoft.com/office/powerpoint/2010/main" val="3151321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1764" y="620688"/>
            <a:ext cx="11233248" cy="5078313"/>
          </a:xfrm>
          <a:prstGeom prst="rect">
            <a:avLst/>
          </a:prstGeom>
          <a:noFill/>
        </p:spPr>
        <p:txBody>
          <a:bodyPr wrap="square" rtlCol="0">
            <a:spAutoFit/>
          </a:bodyPr>
          <a:lstStyle/>
          <a:p>
            <a:r>
              <a:rPr lang="en-US" b="1" dirty="0"/>
              <a:t>3. Skill Gap Precision</a:t>
            </a:r>
            <a:br>
              <a:rPr lang="en-US" dirty="0"/>
            </a:br>
            <a:r>
              <a:rPr lang="en-US" dirty="0"/>
              <a:t>The system measures how correctly it identifies missing skills for a selected job role.</a:t>
            </a:r>
          </a:p>
          <a:p>
            <a:pPr marL="285750" indent="-285750">
              <a:buFont typeface="Arial" panose="020B0604020202020204" pitchFamily="34" charset="0"/>
              <a:buChar char="•"/>
            </a:pPr>
            <a:r>
              <a:rPr lang="en-US" dirty="0"/>
              <a:t>Only meaningful and filtered skills are considered. </a:t>
            </a:r>
          </a:p>
          <a:p>
            <a:pPr marL="285750" indent="-285750">
              <a:buFont typeface="Arial" panose="020B0604020202020204" pitchFamily="34" charset="0"/>
              <a:buChar char="•"/>
            </a:pPr>
            <a:r>
              <a:rPr lang="en-US" dirty="0"/>
              <a:t>Generic or non-skill phrases are removed.</a:t>
            </a:r>
            <a:br>
              <a:rPr lang="en-US" dirty="0"/>
            </a:br>
            <a:r>
              <a:rPr lang="en-US" dirty="0"/>
              <a:t>This ensures that the displayed skill gaps are accurate and actionable. </a:t>
            </a:r>
          </a:p>
          <a:p>
            <a:endParaRPr lang="en-US" dirty="0"/>
          </a:p>
          <a:p>
            <a:r>
              <a:rPr lang="en-US" b="1" dirty="0"/>
              <a:t>4. Consistency of Results</a:t>
            </a:r>
            <a:br>
              <a:rPr lang="en-US" dirty="0"/>
            </a:br>
            <a:r>
              <a:rPr lang="en-US" dirty="0"/>
              <a:t>Since the system uses a single CSV dataset as the source of truth, consistency is maintained across:</a:t>
            </a:r>
          </a:p>
          <a:p>
            <a:pPr marL="285750" indent="-285750">
              <a:buFont typeface="Arial" panose="020B0604020202020204" pitchFamily="34" charset="0"/>
              <a:buChar char="•"/>
            </a:pPr>
            <a:r>
              <a:rPr lang="en-US" dirty="0"/>
              <a:t>Skill extraction </a:t>
            </a:r>
          </a:p>
          <a:p>
            <a:pPr marL="285750" indent="-285750">
              <a:buFont typeface="Arial" panose="020B0604020202020204" pitchFamily="34" charset="0"/>
              <a:buChar char="•"/>
            </a:pPr>
            <a:r>
              <a:rPr lang="en-US" dirty="0"/>
              <a:t>Job recommendation </a:t>
            </a:r>
          </a:p>
          <a:p>
            <a:pPr marL="285750" indent="-285750">
              <a:buFont typeface="Arial" panose="020B0604020202020204" pitchFamily="34" charset="0"/>
              <a:buChar char="•"/>
            </a:pPr>
            <a:r>
              <a:rPr lang="en-US" dirty="0"/>
              <a:t>Skill gap analysis</a:t>
            </a:r>
            <a:br>
              <a:rPr lang="en-US" dirty="0"/>
            </a:br>
            <a:r>
              <a:rPr lang="en-US" dirty="0"/>
              <a:t>This avoids mismatches and improves reliability. </a:t>
            </a:r>
          </a:p>
          <a:p>
            <a:endParaRPr lang="en-US" dirty="0"/>
          </a:p>
          <a:p>
            <a:r>
              <a:rPr lang="en-US" b="1" dirty="0"/>
              <a:t>5. Processing Efficiency</a:t>
            </a:r>
            <a:br>
              <a:rPr lang="en-US" dirty="0"/>
            </a:br>
            <a:r>
              <a:rPr lang="en-US" dirty="0"/>
              <a:t>The system performance is also evaluated based on response time.</a:t>
            </a:r>
          </a:p>
          <a:p>
            <a:pPr marL="285750" indent="-285750">
              <a:buFont typeface="Arial" panose="020B0604020202020204" pitchFamily="34" charset="0"/>
              <a:buChar char="•"/>
            </a:pPr>
            <a:r>
              <a:rPr lang="en-US" dirty="0"/>
              <a:t>Use of caching (</a:t>
            </a:r>
            <a:r>
              <a:rPr lang="en-US" dirty="0" err="1"/>
              <a:t>st.cache_data</a:t>
            </a:r>
            <a:r>
              <a:rPr lang="en-US" dirty="0"/>
              <a:t>) reduces repeated computations. </a:t>
            </a:r>
          </a:p>
          <a:p>
            <a:pPr marL="285750" indent="-285750">
              <a:buFont typeface="Arial" panose="020B0604020202020204" pitchFamily="34" charset="0"/>
              <a:buChar char="•"/>
            </a:pPr>
            <a:r>
              <a:rPr lang="en-US" dirty="0"/>
              <a:t>Lightweight rule-based logic ensures fast processing.</a:t>
            </a:r>
            <a:br>
              <a:rPr lang="en-US" dirty="0"/>
            </a:br>
            <a:r>
              <a:rPr lang="en-US" dirty="0"/>
              <a:t>This makes the system suitable for real-time interaction.</a:t>
            </a:r>
          </a:p>
        </p:txBody>
      </p:sp>
    </p:spTree>
    <p:extLst>
      <p:ext uri="{BB962C8B-B14F-4D97-AF65-F5344CB8AC3E}">
        <p14:creationId xmlns:p14="http://schemas.microsoft.com/office/powerpoint/2010/main" val="167494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8B2637-3462-C492-3A7A-C2FC1B571820}"/>
              </a:ext>
            </a:extLst>
          </p:cNvPr>
          <p:cNvSpPr txBox="1"/>
          <p:nvPr/>
        </p:nvSpPr>
        <p:spPr>
          <a:xfrm>
            <a:off x="405780" y="404664"/>
            <a:ext cx="11233248" cy="7017306"/>
          </a:xfrm>
          <a:prstGeom prst="rect">
            <a:avLst/>
          </a:prstGeom>
          <a:noFill/>
        </p:spPr>
        <p:txBody>
          <a:bodyPr wrap="square" rtlCol="0">
            <a:spAutoFit/>
          </a:bodyPr>
          <a:lstStyle/>
          <a:p>
            <a:pPr>
              <a:lnSpc>
                <a:spcPct val="150000"/>
              </a:lnSpc>
            </a:pPr>
            <a:r>
              <a:rPr lang="en-US" b="1" dirty="0"/>
              <a:t>6. Outdated Skill Detection Accuracy</a:t>
            </a:r>
            <a:br>
              <a:rPr lang="en-US" dirty="0"/>
            </a:br>
            <a:r>
              <a:rPr lang="en-US" dirty="0"/>
              <a:t>The system identifies outdated technologies by comparing resume skills with a predefined list.</a:t>
            </a:r>
          </a:p>
          <a:p>
            <a:pPr marL="285750" indent="-285750">
              <a:lnSpc>
                <a:spcPct val="150000"/>
              </a:lnSpc>
              <a:buFont typeface="Arial" panose="020B0604020202020204" pitchFamily="34" charset="0"/>
              <a:buChar char="•"/>
            </a:pPr>
            <a:r>
              <a:rPr lang="en-US" dirty="0"/>
              <a:t>Accuracy depends on the completeness of the outdated skills list. </a:t>
            </a:r>
          </a:p>
          <a:p>
            <a:pPr>
              <a:lnSpc>
                <a:spcPct val="150000"/>
              </a:lnSpc>
            </a:pPr>
            <a:r>
              <a:rPr lang="en-US" dirty="0"/>
              <a:t>      Helps users recognize irrelevant skills effectively. </a:t>
            </a:r>
          </a:p>
          <a:p>
            <a:pPr>
              <a:lnSpc>
                <a:spcPct val="150000"/>
              </a:lnSpc>
            </a:pPr>
            <a:endParaRPr lang="en-US" dirty="0"/>
          </a:p>
          <a:p>
            <a:pPr>
              <a:lnSpc>
                <a:spcPct val="150000"/>
              </a:lnSpc>
            </a:pPr>
            <a:r>
              <a:rPr lang="en-US" dirty="0"/>
              <a:t>7.</a:t>
            </a:r>
            <a:r>
              <a:rPr lang="en-IN" b="1" dirty="0"/>
              <a:t> Hiring Companies Module</a:t>
            </a:r>
            <a:endParaRPr lang="en-IN" dirty="0"/>
          </a:p>
          <a:p>
            <a:pPr marL="285750" indent="-285750">
              <a:lnSpc>
                <a:spcPct val="150000"/>
              </a:lnSpc>
              <a:buFont typeface="Arial" panose="020B0604020202020204" pitchFamily="34" charset="0"/>
              <a:buChar char="•"/>
            </a:pPr>
            <a:r>
              <a:rPr lang="en-IN" dirty="0"/>
              <a:t>Fetches live job listings for the selected role.</a:t>
            </a:r>
          </a:p>
          <a:p>
            <a:pPr marL="285750" indent="-285750">
              <a:lnSpc>
                <a:spcPct val="150000"/>
              </a:lnSpc>
              <a:buFont typeface="Arial" panose="020B0604020202020204" pitchFamily="34" charset="0"/>
              <a:buChar char="•"/>
            </a:pPr>
            <a:r>
              <a:rPr lang="en-IN" dirty="0"/>
              <a:t>Displays hiring companies in India.</a:t>
            </a:r>
          </a:p>
          <a:p>
            <a:pPr marL="285750" indent="-285750">
              <a:lnSpc>
                <a:spcPct val="150000"/>
              </a:lnSpc>
              <a:buFont typeface="Arial" panose="020B0604020202020204" pitchFamily="34" charset="0"/>
              <a:buChar char="•"/>
            </a:pPr>
            <a:r>
              <a:rPr lang="en-IN" dirty="0"/>
              <a:t>Shows job title, location, salary, and job type.</a:t>
            </a:r>
          </a:p>
          <a:p>
            <a:pPr marL="285750" indent="-285750">
              <a:lnSpc>
                <a:spcPct val="150000"/>
              </a:lnSpc>
              <a:buFont typeface="Arial" panose="020B0604020202020204" pitchFamily="34" charset="0"/>
              <a:buChar char="•"/>
            </a:pPr>
            <a:r>
              <a:rPr lang="en-IN" dirty="0"/>
              <a:t>Provides direct application links.</a:t>
            </a:r>
          </a:p>
          <a:p>
            <a:pPr marL="285750" indent="-285750">
              <a:lnSpc>
                <a:spcPct val="150000"/>
              </a:lnSpc>
              <a:buFont typeface="Arial" panose="020B0604020202020204" pitchFamily="34" charset="0"/>
              <a:buChar char="•"/>
            </a:pPr>
            <a:r>
              <a:rPr lang="en-IN" dirty="0"/>
              <a:t>Updates results using real-time API data.</a:t>
            </a:r>
          </a:p>
          <a:p>
            <a:pPr marL="285750" indent="-285750">
              <a:lnSpc>
                <a:spcPct val="150000"/>
              </a:lnSpc>
              <a:buFont typeface="Arial" panose="020B0604020202020204" pitchFamily="34" charset="0"/>
              <a:buChar char="•"/>
            </a:pPr>
            <a:r>
              <a:rPr lang="en-IN" dirty="0"/>
              <a:t>Integrates seamlessly with job recommendations.</a:t>
            </a:r>
          </a:p>
          <a:p>
            <a:pPr marL="285750" indent="-285750">
              <a:lnSpc>
                <a:spcPct val="150000"/>
              </a:lnSpc>
              <a:buFont typeface="Arial" panose="020B0604020202020204" pitchFamily="34" charset="0"/>
              <a:buChar char="•"/>
            </a:pPr>
            <a:r>
              <a:rPr lang="en-IN" dirty="0"/>
              <a:t>Reduces job search effort for users.</a:t>
            </a:r>
          </a:p>
          <a:p>
            <a:pPr marL="285750" indent="-285750">
              <a:lnSpc>
                <a:spcPct val="150000"/>
              </a:lnSpc>
              <a:buFont typeface="Arial" panose="020B0604020202020204" pitchFamily="34" charset="0"/>
              <a:buChar char="•"/>
            </a:pPr>
            <a:r>
              <a:rPr lang="en-IN" dirty="0"/>
              <a:t>Performance depends on API response time and data availability.</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1599549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8299BF-5147-5E19-697F-AD48AF73E0A1}"/>
              </a:ext>
            </a:extLst>
          </p:cNvPr>
          <p:cNvSpPr txBox="1"/>
          <p:nvPr/>
        </p:nvSpPr>
        <p:spPr>
          <a:xfrm>
            <a:off x="219777" y="188640"/>
            <a:ext cx="11953328" cy="6878806"/>
          </a:xfrm>
          <a:prstGeom prst="rect">
            <a:avLst/>
          </a:prstGeom>
          <a:noFill/>
        </p:spPr>
        <p:txBody>
          <a:bodyPr wrap="square" rtlCol="0">
            <a:spAutoFit/>
          </a:bodyPr>
          <a:lstStyle/>
          <a:p>
            <a:pPr>
              <a:lnSpc>
                <a:spcPct val="150000"/>
              </a:lnSpc>
            </a:pPr>
            <a:r>
              <a:rPr lang="en-IN" b="1" dirty="0"/>
              <a:t>8. Chatbot Module</a:t>
            </a:r>
            <a:endParaRPr lang="en-IN" dirty="0"/>
          </a:p>
          <a:p>
            <a:pPr>
              <a:lnSpc>
                <a:spcPct val="150000"/>
              </a:lnSpc>
            </a:pPr>
            <a:r>
              <a:rPr lang="en-IN" dirty="0"/>
              <a:t>• Provides personalized career guidance</a:t>
            </a:r>
            <a:br>
              <a:rPr lang="en-IN" dirty="0"/>
            </a:br>
            <a:r>
              <a:rPr lang="en-IN" dirty="0"/>
              <a:t>• Uses resume and skill data for responses</a:t>
            </a:r>
            <a:br>
              <a:rPr lang="en-IN" dirty="0"/>
            </a:br>
            <a:r>
              <a:rPr lang="en-IN" dirty="0"/>
              <a:t>• Suggests suitable job roles and skills</a:t>
            </a:r>
            <a:br>
              <a:rPr lang="en-IN" dirty="0"/>
            </a:br>
            <a:r>
              <a:rPr lang="en-IN" dirty="0"/>
              <a:t>• Supports skill gap identification</a:t>
            </a:r>
            <a:br>
              <a:rPr lang="en-IN" dirty="0"/>
            </a:br>
            <a:r>
              <a:rPr lang="en-IN" dirty="0"/>
              <a:t>• Improves user engagement through interaction</a:t>
            </a:r>
            <a:br>
              <a:rPr lang="en-IN" dirty="0"/>
            </a:br>
            <a:r>
              <a:rPr lang="en-IN" dirty="0"/>
              <a:t>• Delivers quick and relevant career recommendations and saves the previous chats</a:t>
            </a:r>
            <a:br>
              <a:rPr lang="en-IN" dirty="0"/>
            </a:br>
            <a:r>
              <a:rPr lang="en-IN" dirty="0"/>
              <a:t>• Performance depends on the accuracy of extracted data and job matching results</a:t>
            </a:r>
          </a:p>
          <a:p>
            <a:pPr>
              <a:lnSpc>
                <a:spcPct val="150000"/>
              </a:lnSpc>
            </a:pPr>
            <a:endParaRPr lang="en-IN" dirty="0"/>
          </a:p>
          <a:p>
            <a:pPr>
              <a:lnSpc>
                <a:spcPct val="150000"/>
              </a:lnSpc>
            </a:pPr>
            <a:r>
              <a:rPr lang="en-US" b="1" dirty="0"/>
              <a:t>9. User Interpretability</a:t>
            </a:r>
            <a:br>
              <a:rPr lang="en-US" dirty="0"/>
            </a:br>
            <a:r>
              <a:rPr lang="en-US" dirty="0"/>
              <a:t>The results are evaluated based on how easily users can understand them:</a:t>
            </a:r>
          </a:p>
          <a:p>
            <a:pPr marL="285750" indent="-285750">
              <a:lnSpc>
                <a:spcPct val="150000"/>
              </a:lnSpc>
              <a:buFont typeface="Arial" panose="020B0604020202020204" pitchFamily="34" charset="0"/>
              <a:buChar char="•"/>
            </a:pPr>
            <a:r>
              <a:rPr lang="en-US" dirty="0"/>
              <a:t>Clear display of extracted skills </a:t>
            </a:r>
          </a:p>
          <a:p>
            <a:pPr marL="285750" indent="-285750">
              <a:lnSpc>
                <a:spcPct val="150000"/>
              </a:lnSpc>
              <a:buFont typeface="Arial" panose="020B0604020202020204" pitchFamily="34" charset="0"/>
              <a:buChar char="•"/>
            </a:pPr>
            <a:r>
              <a:rPr lang="en-US" dirty="0"/>
              <a:t>Ranked job recommendations </a:t>
            </a:r>
          </a:p>
          <a:p>
            <a:pPr marL="285750" indent="-285750">
              <a:lnSpc>
                <a:spcPct val="150000"/>
              </a:lnSpc>
              <a:buFont typeface="Arial" panose="020B0604020202020204" pitchFamily="34" charset="0"/>
              <a:buChar char="•"/>
            </a:pPr>
            <a:r>
              <a:rPr lang="en-US" dirty="0"/>
              <a:t>Highlighted skill gaps</a:t>
            </a:r>
            <a:br>
              <a:rPr lang="en-US" dirty="0"/>
            </a:br>
            <a:r>
              <a:rPr lang="en-US" dirty="0"/>
              <a:t>This improves usability and decision-making. </a:t>
            </a:r>
          </a:p>
          <a:p>
            <a:endParaRPr lang="en-IN" dirty="0"/>
          </a:p>
          <a:p>
            <a:endParaRPr lang="en-IN" dirty="0"/>
          </a:p>
        </p:txBody>
      </p:sp>
    </p:spTree>
    <p:extLst>
      <p:ext uri="{BB962C8B-B14F-4D97-AF65-F5344CB8AC3E}">
        <p14:creationId xmlns:p14="http://schemas.microsoft.com/office/powerpoint/2010/main" val="372303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E3866B-47E8-67BD-0B8B-9A70581948A1}"/>
              </a:ext>
            </a:extLst>
          </p:cNvPr>
          <p:cNvSpPr txBox="1"/>
          <p:nvPr/>
        </p:nvSpPr>
        <p:spPr>
          <a:xfrm>
            <a:off x="909836" y="764704"/>
            <a:ext cx="7344816" cy="3416320"/>
          </a:xfrm>
          <a:prstGeom prst="rect">
            <a:avLst/>
          </a:prstGeom>
          <a:noFill/>
        </p:spPr>
        <p:txBody>
          <a:bodyPr wrap="square" rtlCol="0">
            <a:spAutoFit/>
          </a:bodyPr>
          <a:lstStyle/>
          <a:p>
            <a:r>
              <a:rPr lang="en-IN" b="1" dirty="0"/>
              <a:t>Authentication Module:</a:t>
            </a:r>
          </a:p>
          <a:p>
            <a:pPr marL="285750" indent="-285750">
              <a:lnSpc>
                <a:spcPct val="200000"/>
              </a:lnSpc>
              <a:buFont typeface="Arial" panose="020B0604020202020204" pitchFamily="34" charset="0"/>
              <a:buChar char="•"/>
            </a:pPr>
            <a:r>
              <a:rPr lang="en-IN" b="1" dirty="0"/>
              <a:t>Fast Login Verification</a:t>
            </a:r>
            <a:r>
              <a:rPr lang="en-IN" dirty="0"/>
              <a:t> for secure user access.</a:t>
            </a:r>
          </a:p>
          <a:p>
            <a:pPr marL="285750" indent="-285750">
              <a:lnSpc>
                <a:spcPct val="200000"/>
              </a:lnSpc>
              <a:buFont typeface="Arial" panose="020B0604020202020204" pitchFamily="34" charset="0"/>
              <a:buChar char="•"/>
            </a:pPr>
            <a:r>
              <a:rPr lang="en-IN" b="1" dirty="0"/>
              <a:t>Maintains Active Sessions</a:t>
            </a:r>
            <a:r>
              <a:rPr lang="en-IN" dirty="0"/>
              <a:t> during usage.</a:t>
            </a:r>
          </a:p>
          <a:p>
            <a:pPr marL="285750" indent="-285750">
              <a:lnSpc>
                <a:spcPct val="200000"/>
              </a:lnSpc>
              <a:buFont typeface="Arial" panose="020B0604020202020204" pitchFamily="34" charset="0"/>
              <a:buChar char="•"/>
            </a:pPr>
            <a:r>
              <a:rPr lang="en-IN" b="1" dirty="0"/>
              <a:t>Protects User Privacy</a:t>
            </a:r>
            <a:r>
              <a:rPr lang="en-IN" dirty="0"/>
              <a:t> with user-specific access.</a:t>
            </a:r>
          </a:p>
          <a:p>
            <a:pPr marL="285750" indent="-285750">
              <a:lnSpc>
                <a:spcPct val="200000"/>
              </a:lnSpc>
              <a:buFont typeface="Arial" panose="020B0604020202020204" pitchFamily="34" charset="0"/>
              <a:buChar char="•"/>
            </a:pPr>
            <a:r>
              <a:rPr lang="en-IN" b="1" dirty="0"/>
              <a:t>Quick Chat Loading</a:t>
            </a:r>
            <a:r>
              <a:rPr lang="en-IN" dirty="0"/>
              <a:t> from saved history.</a:t>
            </a:r>
          </a:p>
          <a:p>
            <a:pPr marL="285750" indent="-285750">
              <a:lnSpc>
                <a:spcPct val="200000"/>
              </a:lnSpc>
              <a:buFont typeface="Arial" panose="020B0604020202020204" pitchFamily="34" charset="0"/>
              <a:buChar char="•"/>
            </a:pPr>
            <a:r>
              <a:rPr lang="en-IN" b="1" dirty="0"/>
              <a:t>Lightweight Storage</a:t>
            </a:r>
            <a:r>
              <a:rPr lang="en-IN" dirty="0"/>
              <a:t> using JSON files.</a:t>
            </a:r>
          </a:p>
          <a:p>
            <a:endParaRPr lang="en-IN" dirty="0"/>
          </a:p>
        </p:txBody>
      </p:sp>
      <p:sp>
        <p:nvSpPr>
          <p:cNvPr id="3" name="TextBox 2">
            <a:extLst>
              <a:ext uri="{FF2B5EF4-FFF2-40B4-BE49-F238E27FC236}">
                <a16:creationId xmlns:a16="http://schemas.microsoft.com/office/drawing/2014/main" id="{6050B7BA-6154-57E0-0245-99B980F62942}"/>
              </a:ext>
            </a:extLst>
          </p:cNvPr>
          <p:cNvSpPr txBox="1"/>
          <p:nvPr/>
        </p:nvSpPr>
        <p:spPr>
          <a:xfrm>
            <a:off x="7318548" y="752330"/>
            <a:ext cx="3384376" cy="4524315"/>
          </a:xfrm>
          <a:prstGeom prst="rect">
            <a:avLst/>
          </a:prstGeom>
          <a:noFill/>
        </p:spPr>
        <p:txBody>
          <a:bodyPr wrap="square" rtlCol="0">
            <a:spAutoFit/>
          </a:bodyPr>
          <a:lstStyle/>
          <a:p>
            <a:r>
              <a:rPr lang="en-IN" b="1" dirty="0"/>
              <a:t>Overall Technologies Used:</a:t>
            </a:r>
          </a:p>
          <a:p>
            <a:endParaRPr lang="en-IN" b="1" dirty="0"/>
          </a:p>
          <a:p>
            <a:pPr marL="285750" indent="-285750">
              <a:buFont typeface="Arial" panose="020B0604020202020204" pitchFamily="34" charset="0"/>
              <a:buChar char="•"/>
            </a:pPr>
            <a:r>
              <a:rPr lang="en-IN" dirty="0"/>
              <a:t>Frontend: </a:t>
            </a:r>
            <a:r>
              <a:rPr lang="en-IN" dirty="0" err="1"/>
              <a:t>Streamlit</a:t>
            </a: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Backend: Python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AI Model: </a:t>
            </a:r>
            <a:r>
              <a:rPr lang="en-IN" dirty="0" err="1"/>
              <a:t>Groq</a:t>
            </a:r>
            <a:r>
              <a:rPr lang="en-IN" dirty="0"/>
              <a:t> LLM</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Storage: JSON Files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Data Processing: Pandas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External API: </a:t>
            </a:r>
            <a:r>
              <a:rPr lang="en-IN" dirty="0" err="1"/>
              <a:t>JSearch</a:t>
            </a:r>
            <a:r>
              <a:rPr lang="en-IN" dirty="0"/>
              <a:t> (</a:t>
            </a:r>
            <a:r>
              <a:rPr lang="en-IN" dirty="0" err="1"/>
              <a:t>RapidAPI</a:t>
            </a:r>
            <a:r>
              <a:rPr lang="en-IN" dirty="0"/>
              <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Dataset: Skills &amp; Job Roles CSV</a:t>
            </a:r>
          </a:p>
        </p:txBody>
      </p:sp>
    </p:spTree>
    <p:extLst>
      <p:ext uri="{BB962C8B-B14F-4D97-AF65-F5344CB8AC3E}">
        <p14:creationId xmlns:p14="http://schemas.microsoft.com/office/powerpoint/2010/main" val="3062340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1E7B36-213E-E735-1638-AA50A0E708AE}"/>
              </a:ext>
            </a:extLst>
          </p:cNvPr>
          <p:cNvSpPr txBox="1"/>
          <p:nvPr/>
        </p:nvSpPr>
        <p:spPr>
          <a:xfrm>
            <a:off x="333772" y="404664"/>
            <a:ext cx="2376264" cy="461665"/>
          </a:xfrm>
          <a:prstGeom prst="rect">
            <a:avLst/>
          </a:prstGeom>
          <a:noFill/>
        </p:spPr>
        <p:txBody>
          <a:bodyPr wrap="square" lIns="91440" tIns="45720" rIns="91440" bIns="45720" rtlCol="0" anchor="t">
            <a:spAutoFit/>
          </a:bodyPr>
          <a:lstStyle/>
          <a:p>
            <a:r>
              <a:rPr lang="en-US" sz="2400" b="1">
                <a:latin typeface="Times New Roman"/>
                <a:cs typeface="Times New Roman"/>
              </a:rPr>
              <a:t>OUTPUT :</a:t>
            </a:r>
            <a:endParaRPr lang="en-IN" sz="2400" b="1">
              <a:latin typeface="Times New Roman"/>
              <a:cs typeface="Times New Roman"/>
            </a:endParaRPr>
          </a:p>
        </p:txBody>
      </p:sp>
      <p:sp>
        <p:nvSpPr>
          <p:cNvPr id="3" name="TextBox 2">
            <a:extLst>
              <a:ext uri="{FF2B5EF4-FFF2-40B4-BE49-F238E27FC236}">
                <a16:creationId xmlns:a16="http://schemas.microsoft.com/office/drawing/2014/main" id="{9BF7CF4C-1BCB-8C0C-AB16-32EA90B0DDA1}"/>
              </a:ext>
            </a:extLst>
          </p:cNvPr>
          <p:cNvSpPr txBox="1"/>
          <p:nvPr/>
        </p:nvSpPr>
        <p:spPr>
          <a:xfrm>
            <a:off x="765820" y="1052736"/>
            <a:ext cx="9649072" cy="646331"/>
          </a:xfrm>
          <a:prstGeom prst="rect">
            <a:avLst/>
          </a:prstGeom>
          <a:noFill/>
        </p:spPr>
        <p:txBody>
          <a:bodyPr wrap="square" rtlCol="0">
            <a:spAutoFit/>
          </a:bodyPr>
          <a:lstStyle/>
          <a:p>
            <a:r>
              <a:rPr lang="en-IN" dirty="0"/>
              <a:t>The Authentication Module enables secure user access, protects user data, and provides personalized chat history, improving both privacy and user experience.</a:t>
            </a:r>
          </a:p>
        </p:txBody>
      </p:sp>
      <p:pic>
        <p:nvPicPr>
          <p:cNvPr id="5" name="Picture 4">
            <a:extLst>
              <a:ext uri="{FF2B5EF4-FFF2-40B4-BE49-F238E27FC236}">
                <a16:creationId xmlns:a16="http://schemas.microsoft.com/office/drawing/2014/main" id="{477312AB-41E2-7BC8-ABD1-581B713895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1924" y="2063551"/>
            <a:ext cx="8263125" cy="4389785"/>
          </a:xfrm>
          <a:prstGeom prst="rect">
            <a:avLst/>
          </a:prstGeom>
        </p:spPr>
      </p:pic>
    </p:spTree>
    <p:extLst>
      <p:ext uri="{BB962C8B-B14F-4D97-AF65-F5344CB8AC3E}">
        <p14:creationId xmlns:p14="http://schemas.microsoft.com/office/powerpoint/2010/main" val="353699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B149A7-4412-4E0C-FD12-2973326A4F9D}"/>
              </a:ext>
            </a:extLst>
          </p:cNvPr>
          <p:cNvSpPr txBox="1"/>
          <p:nvPr/>
        </p:nvSpPr>
        <p:spPr>
          <a:xfrm>
            <a:off x="405780" y="548680"/>
            <a:ext cx="10801200" cy="923330"/>
          </a:xfrm>
          <a:prstGeom prst="rect">
            <a:avLst/>
          </a:prstGeom>
          <a:noFill/>
        </p:spPr>
        <p:txBody>
          <a:bodyPr wrap="square" lIns="91440" tIns="45720" rIns="91440" bIns="45720" rtlCol="0" anchor="t">
            <a:spAutoFit/>
          </a:bodyPr>
          <a:lstStyle/>
          <a:p>
            <a:r>
              <a:rPr lang="en-US" dirty="0">
                <a:latin typeface="Times New Roman"/>
                <a:cs typeface="Times New Roman"/>
              </a:rPr>
              <a:t>The proposed </a:t>
            </a:r>
            <a:r>
              <a:rPr lang="en-US" b="1" dirty="0">
                <a:latin typeface="Times New Roman"/>
                <a:cs typeface="Times New Roman"/>
              </a:rPr>
              <a:t>Skill-Based Career Analyzer</a:t>
            </a:r>
            <a:r>
              <a:rPr lang="en-US" dirty="0">
                <a:latin typeface="Times New Roman"/>
                <a:cs typeface="Times New Roman"/>
              </a:rPr>
              <a:t> was tested using sample resume inputs, and the results demonstrate the effective working of all system modules including skill extraction, job recommendation, outdated skill detection, and skill gap analysis.</a:t>
            </a:r>
            <a:endParaRPr lang="en-IN" dirty="0">
              <a:latin typeface="Times New Roman"/>
              <a:cs typeface="Times New Roman"/>
            </a:endParaRPr>
          </a:p>
        </p:txBody>
      </p:sp>
      <p:pic>
        <p:nvPicPr>
          <p:cNvPr id="4" name="Picture 3">
            <a:extLst>
              <a:ext uri="{FF2B5EF4-FFF2-40B4-BE49-F238E27FC236}">
                <a16:creationId xmlns:a16="http://schemas.microsoft.com/office/drawing/2014/main" id="{CFB0F93C-9AA4-734F-EB77-303DF1BC76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3892" y="1772816"/>
            <a:ext cx="8805303" cy="4677817"/>
          </a:xfrm>
          <a:prstGeom prst="rect">
            <a:avLst/>
          </a:prstGeom>
        </p:spPr>
      </p:pic>
    </p:spTree>
    <p:extLst>
      <p:ext uri="{BB962C8B-B14F-4D97-AF65-F5344CB8AC3E}">
        <p14:creationId xmlns:p14="http://schemas.microsoft.com/office/powerpoint/2010/main" val="1436251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202B5AEE-C62A-EF3A-B902-171D94C5F1BB}"/>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a:extLst>
              <a:ext uri="{FF2B5EF4-FFF2-40B4-BE49-F238E27FC236}">
                <a16:creationId xmlns:a16="http://schemas.microsoft.com/office/drawing/2014/main" id="{14E6ED10-A1DD-F2FA-EED0-99C1822D8FFD}"/>
              </a:ext>
            </a:extLst>
          </p:cNvPr>
          <p:cNvSpPr>
            <a:spLocks noChangeAspect="1" noChangeArrowheads="1"/>
          </p:cNvSpPr>
          <p:nvPr/>
        </p:nvSpPr>
        <p:spPr bwMode="auto">
          <a:xfrm>
            <a:off x="6094413"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5D400673-E92F-48F7-369D-3A6C8820BA80}"/>
              </a:ext>
            </a:extLst>
          </p:cNvPr>
          <p:cNvSpPr txBox="1"/>
          <p:nvPr/>
        </p:nvSpPr>
        <p:spPr>
          <a:xfrm>
            <a:off x="195495" y="4277469"/>
            <a:ext cx="4818797" cy="2123658"/>
          </a:xfrm>
          <a:prstGeom prst="rect">
            <a:avLst/>
          </a:prstGeom>
          <a:noFill/>
        </p:spPr>
        <p:txBody>
          <a:bodyPr wrap="square" lIns="91440" tIns="45720" rIns="91440" bIns="45720" rtlCol="0" anchor="t">
            <a:spAutoFit/>
          </a:bodyPr>
          <a:lstStyle/>
          <a:p>
            <a:pPr algn="just"/>
            <a:r>
              <a:rPr lang="en-US" sz="2400" b="1" dirty="0">
                <a:latin typeface="Times New Roman"/>
                <a:ea typeface="+mn-lt"/>
                <a:cs typeface="Times New Roman"/>
              </a:rPr>
              <a:t>Resume Upload &amp; Processing:</a:t>
            </a:r>
          </a:p>
          <a:p>
            <a:pPr marL="285750" indent="-285750" algn="just">
              <a:buFont typeface="Arial"/>
              <a:buChar char="•"/>
            </a:pPr>
            <a:r>
              <a:rPr lang="en-US" dirty="0">
                <a:latin typeface="Times New Roman"/>
                <a:ea typeface="+mn-lt"/>
                <a:cs typeface="Times New Roman"/>
              </a:rPr>
              <a:t>User uploads resume</a:t>
            </a:r>
            <a:endParaRPr lang="en-US" dirty="0">
              <a:latin typeface="Times New Roman"/>
              <a:cs typeface="Times New Roman"/>
            </a:endParaRPr>
          </a:p>
          <a:p>
            <a:pPr marL="285750" indent="-285750" algn="just">
              <a:buFont typeface="Arial"/>
              <a:buChar char="•"/>
            </a:pPr>
            <a:r>
              <a:rPr lang="en-US" dirty="0">
                <a:latin typeface="Times New Roman"/>
                <a:ea typeface="+mn-lt"/>
                <a:cs typeface="Times New Roman"/>
              </a:rPr>
              <a:t>Resume is processed</a:t>
            </a:r>
          </a:p>
          <a:p>
            <a:pPr algn="just"/>
            <a:r>
              <a:rPr lang="en-US" dirty="0">
                <a:latin typeface="Times New Roman"/>
                <a:ea typeface="+mn-lt"/>
                <a:cs typeface="Times New Roman"/>
              </a:rPr>
              <a:t>Skill Extraction</a:t>
            </a:r>
            <a:endParaRPr lang="en-US" dirty="0">
              <a:latin typeface="Times New Roman"/>
              <a:cs typeface="Times New Roman"/>
            </a:endParaRPr>
          </a:p>
          <a:p>
            <a:pPr marL="285750" indent="-285750" algn="just">
              <a:buFont typeface="Arial"/>
              <a:buChar char="•"/>
            </a:pPr>
            <a:r>
              <a:rPr lang="en-US" dirty="0">
                <a:latin typeface="Times New Roman"/>
                <a:ea typeface="+mn-lt"/>
                <a:cs typeface="Times New Roman"/>
              </a:rPr>
              <a:t>Automatic skill extraction </a:t>
            </a:r>
            <a:endParaRPr lang="en-US" dirty="0">
              <a:latin typeface="Times New Roman"/>
              <a:cs typeface="Times New Roman"/>
            </a:endParaRPr>
          </a:p>
          <a:p>
            <a:pPr marL="285750" indent="-285750" algn="just">
              <a:buFont typeface="Arial"/>
              <a:buChar char="•"/>
            </a:pPr>
            <a:r>
              <a:rPr lang="en-US" dirty="0">
                <a:latin typeface="Times New Roman"/>
                <a:ea typeface="+mn-lt"/>
                <a:cs typeface="Times New Roman"/>
              </a:rPr>
              <a:t>Structured display of skills </a:t>
            </a:r>
          </a:p>
          <a:p>
            <a:pPr marL="285750" indent="-285750" algn="just">
              <a:buFont typeface="Arial"/>
              <a:buChar char="•"/>
            </a:pPr>
            <a:r>
              <a:rPr lang="en-US" dirty="0">
                <a:latin typeface="Times New Roman"/>
                <a:ea typeface="+mn-lt"/>
                <a:cs typeface="Times New Roman"/>
              </a:rPr>
              <a:t>Multiple skills identified </a:t>
            </a:r>
            <a:endParaRPr lang="en-US" dirty="0">
              <a:latin typeface="Times New Roman"/>
              <a:cs typeface="Times New Roman"/>
            </a:endParaRPr>
          </a:p>
        </p:txBody>
      </p:sp>
      <p:pic>
        <p:nvPicPr>
          <p:cNvPr id="6" name="Picture 5">
            <a:extLst>
              <a:ext uri="{FF2B5EF4-FFF2-40B4-BE49-F238E27FC236}">
                <a16:creationId xmlns:a16="http://schemas.microsoft.com/office/drawing/2014/main" id="{607D0764-0F23-8D69-CE46-EE306E5423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3546" y="404664"/>
            <a:ext cx="5187024" cy="3456384"/>
          </a:xfrm>
          <a:prstGeom prst="rect">
            <a:avLst/>
          </a:prstGeom>
        </p:spPr>
      </p:pic>
      <p:pic>
        <p:nvPicPr>
          <p:cNvPr id="12" name="Picture 11">
            <a:extLst>
              <a:ext uri="{FF2B5EF4-FFF2-40B4-BE49-F238E27FC236}">
                <a16:creationId xmlns:a16="http://schemas.microsoft.com/office/drawing/2014/main" id="{EED8EF63-A0F7-C17A-5E3E-1178C514C7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340" y="692696"/>
            <a:ext cx="6546990" cy="5708431"/>
          </a:xfrm>
          <a:prstGeom prst="rect">
            <a:avLst/>
          </a:prstGeom>
        </p:spPr>
      </p:pic>
    </p:spTree>
    <p:extLst>
      <p:ext uri="{BB962C8B-B14F-4D97-AF65-F5344CB8AC3E}">
        <p14:creationId xmlns:p14="http://schemas.microsoft.com/office/powerpoint/2010/main" val="355957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B2E653-1F85-4EC3-A4F3-296E6489A13E}"/>
              </a:ext>
            </a:extLst>
          </p:cNvPr>
          <p:cNvSpPr txBox="1"/>
          <p:nvPr/>
        </p:nvSpPr>
        <p:spPr>
          <a:xfrm>
            <a:off x="139858" y="980728"/>
            <a:ext cx="4002008" cy="2904898"/>
          </a:xfrm>
          <a:prstGeom prst="rect">
            <a:avLst/>
          </a:prstGeom>
          <a:noFill/>
        </p:spPr>
        <p:txBody>
          <a:bodyPr wrap="square">
            <a:spAutoFit/>
          </a:bodyPr>
          <a:lstStyle/>
          <a:p>
            <a:pPr algn="just"/>
            <a:r>
              <a:rPr lang="en-US" sz="2400" b="1" dirty="0">
                <a:latin typeface="Times New Roman"/>
                <a:ea typeface="+mn-lt"/>
                <a:cs typeface="Times New Roman"/>
              </a:rPr>
              <a:t>Outdated Skill Detection:</a:t>
            </a:r>
            <a:endParaRPr lang="en-US" sz="2400" b="1" dirty="0">
              <a:latin typeface="Times New Roman"/>
              <a:cs typeface="Times New Roman"/>
            </a:endParaRPr>
          </a:p>
          <a:p>
            <a:pPr marL="285750" indent="-285750" algn="just">
              <a:lnSpc>
                <a:spcPct val="150000"/>
              </a:lnSpc>
              <a:buFont typeface="Arial"/>
              <a:buChar char="•"/>
            </a:pPr>
            <a:r>
              <a:rPr lang="en-US" dirty="0">
                <a:latin typeface="Times New Roman"/>
                <a:ea typeface="+mn-lt"/>
                <a:cs typeface="Times New Roman"/>
              </a:rPr>
              <a:t>Detection of outdated skills </a:t>
            </a:r>
            <a:br>
              <a:rPr lang="en-US" dirty="0">
                <a:latin typeface="Times New Roman"/>
                <a:ea typeface="+mn-lt"/>
                <a:cs typeface="Times New Roman"/>
              </a:rPr>
            </a:br>
            <a:r>
              <a:rPr lang="en-US" dirty="0">
                <a:latin typeface="Times New Roman"/>
                <a:ea typeface="+mn-lt"/>
                <a:cs typeface="Times New Roman"/>
              </a:rPr>
              <a:t>The system checks which skills are no longer in demand</a:t>
            </a:r>
            <a:endParaRPr lang="en-US" dirty="0">
              <a:latin typeface="Times New Roman"/>
              <a:cs typeface="Times New Roman"/>
            </a:endParaRPr>
          </a:p>
          <a:p>
            <a:pPr marL="285750" indent="-285750" algn="just">
              <a:lnSpc>
                <a:spcPct val="150000"/>
              </a:lnSpc>
              <a:buFont typeface="Arial"/>
              <a:buChar char="•"/>
            </a:pPr>
            <a:r>
              <a:rPr lang="en-US" dirty="0">
                <a:latin typeface="Times New Roman"/>
                <a:ea typeface="+mn-lt"/>
                <a:cs typeface="Times New Roman"/>
              </a:rPr>
              <a:t>Examples of outdated skills → Skills like PHP and Excel are marked outdated</a:t>
            </a:r>
            <a:endParaRPr lang="en-US" dirty="0">
              <a:latin typeface="Times New Roman"/>
              <a:cs typeface="Times New Roman"/>
            </a:endParaRPr>
          </a:p>
        </p:txBody>
      </p:sp>
      <p:pic>
        <p:nvPicPr>
          <p:cNvPr id="5" name="Picture 4">
            <a:extLst>
              <a:ext uri="{FF2B5EF4-FFF2-40B4-BE49-F238E27FC236}">
                <a16:creationId xmlns:a16="http://schemas.microsoft.com/office/drawing/2014/main" id="{142889D3-572A-8B1E-CB0A-8BC8150B64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0236" y="836712"/>
            <a:ext cx="7322707" cy="4057998"/>
          </a:xfrm>
          <a:prstGeom prst="rect">
            <a:avLst/>
          </a:prstGeom>
        </p:spPr>
      </p:pic>
    </p:spTree>
    <p:extLst>
      <p:ext uri="{BB962C8B-B14F-4D97-AF65-F5344CB8AC3E}">
        <p14:creationId xmlns:p14="http://schemas.microsoft.com/office/powerpoint/2010/main" val="2290710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E7F81A-C368-0FB7-5E60-FE9FFCC4E5CE}"/>
              </a:ext>
            </a:extLst>
          </p:cNvPr>
          <p:cNvSpPr txBox="1"/>
          <p:nvPr/>
        </p:nvSpPr>
        <p:spPr>
          <a:xfrm>
            <a:off x="261764" y="620688"/>
            <a:ext cx="3684264" cy="4370427"/>
          </a:xfrm>
          <a:prstGeom prst="rect">
            <a:avLst/>
          </a:prstGeom>
          <a:noFill/>
        </p:spPr>
        <p:txBody>
          <a:bodyPr wrap="square" lIns="91440" tIns="45720" rIns="91440" bIns="45720" rtlCol="0" anchor="t">
            <a:spAutoFit/>
          </a:bodyPr>
          <a:lstStyle/>
          <a:p>
            <a:pPr algn="just"/>
            <a:r>
              <a:rPr lang="en-US" sz="2000" b="1" dirty="0">
                <a:latin typeface="Times New Roman"/>
                <a:cs typeface="Times New Roman"/>
              </a:rPr>
              <a:t>Job Recommendation Module:</a:t>
            </a:r>
          </a:p>
          <a:p>
            <a:pPr algn="just"/>
            <a:endParaRPr lang="en-US" sz="2000" b="1" dirty="0">
              <a:latin typeface="Times New Roman"/>
              <a:cs typeface="Times New Roman"/>
            </a:endParaRPr>
          </a:p>
          <a:p>
            <a:pPr marL="285750" indent="-285750" algn="just">
              <a:buFont typeface="Arial"/>
              <a:buChar char="•"/>
            </a:pPr>
            <a:r>
              <a:rPr lang="en-US" dirty="0">
                <a:latin typeface="Times New Roman"/>
                <a:cs typeface="Times New Roman"/>
              </a:rPr>
              <a:t>Job roles are recommended</a:t>
            </a:r>
          </a:p>
          <a:p>
            <a:pPr marL="285750" indent="-285750" algn="just">
              <a:buFont typeface="Arial"/>
              <a:buChar char="•"/>
            </a:pPr>
            <a:r>
              <a:rPr lang="en-US" dirty="0">
                <a:latin typeface="Times New Roman"/>
                <a:cs typeface="Times New Roman"/>
              </a:rPr>
              <a:t>Ranking based on skill match</a:t>
            </a:r>
          </a:p>
          <a:p>
            <a:pPr marL="285750" indent="-285750" algn="just">
              <a:buFont typeface="Arial"/>
              <a:buChar char="•"/>
            </a:pPr>
            <a:r>
              <a:rPr lang="en-US" dirty="0">
                <a:latin typeface="Times New Roman"/>
                <a:cs typeface="Times New Roman"/>
              </a:rPr>
              <a:t>Match Percentage Concept</a:t>
            </a:r>
          </a:p>
          <a:p>
            <a:pPr algn="just"/>
            <a:endParaRPr lang="en-US" dirty="0">
              <a:latin typeface="Times New Roman"/>
              <a:ea typeface="+mn-lt"/>
              <a:cs typeface="Times New Roman"/>
            </a:endParaRPr>
          </a:p>
          <a:p>
            <a:pPr algn="just"/>
            <a:r>
              <a:rPr lang="en-US" sz="2000" b="1" dirty="0">
                <a:latin typeface="Times New Roman"/>
                <a:ea typeface="+mn-lt"/>
                <a:cs typeface="Times New Roman"/>
              </a:rPr>
              <a:t>Example Job Roles:</a:t>
            </a:r>
            <a:endParaRPr lang="en-US" sz="2000" b="1" dirty="0">
              <a:latin typeface="Times New Roman"/>
              <a:cs typeface="Times New Roman"/>
            </a:endParaRPr>
          </a:p>
          <a:p>
            <a:pPr algn="just">
              <a:buFont typeface="Arial"/>
              <a:buChar char="•"/>
            </a:pPr>
            <a:r>
              <a:rPr lang="en-US" dirty="0">
                <a:latin typeface="Times New Roman"/>
                <a:ea typeface="+mn-lt"/>
                <a:cs typeface="Times New Roman"/>
              </a:rPr>
              <a:t>Principal Data Scientist – 31% </a:t>
            </a:r>
          </a:p>
          <a:p>
            <a:pPr algn="just">
              <a:buFont typeface="Arial"/>
              <a:buChar char="•"/>
            </a:pPr>
            <a:r>
              <a:rPr lang="en-US" dirty="0">
                <a:latin typeface="Times New Roman"/>
                <a:ea typeface="+mn-lt"/>
                <a:cs typeface="Times New Roman"/>
              </a:rPr>
              <a:t>Data Scientist (Fresher) – 27%</a:t>
            </a:r>
          </a:p>
          <a:p>
            <a:pPr algn="just">
              <a:buFont typeface="Arial"/>
              <a:buChar char="•"/>
            </a:pPr>
            <a:r>
              <a:rPr lang="en-US" dirty="0">
                <a:latin typeface="Times New Roman"/>
                <a:ea typeface="+mn-lt"/>
                <a:cs typeface="Times New Roman"/>
              </a:rPr>
              <a:t>Machine Learning Scientist – 26% </a:t>
            </a:r>
          </a:p>
          <a:p>
            <a:pPr algn="just">
              <a:buFont typeface="Arial"/>
              <a:buChar char="•"/>
            </a:pPr>
            <a:endParaRPr lang="en-US" dirty="0">
              <a:latin typeface="Times New Roman"/>
              <a:ea typeface="+mn-lt"/>
              <a:cs typeface="Times New Roman"/>
            </a:endParaRPr>
          </a:p>
          <a:p>
            <a:pPr algn="just"/>
            <a:r>
              <a:rPr lang="en-US" sz="2000" b="1" dirty="0">
                <a:latin typeface="Times New Roman"/>
                <a:ea typeface="+mn-lt"/>
                <a:cs typeface="Times New Roman"/>
              </a:rPr>
              <a:t>Importance:</a:t>
            </a:r>
          </a:p>
          <a:p>
            <a:pPr marL="342900" indent="-342900" algn="just">
              <a:buFont typeface="Arial"/>
              <a:buChar char="•"/>
            </a:pPr>
            <a:r>
              <a:rPr lang="en-US" dirty="0">
                <a:latin typeface="Times New Roman"/>
                <a:cs typeface="Times New Roman"/>
              </a:rPr>
              <a:t>Provides practical recommendations</a:t>
            </a:r>
          </a:p>
          <a:p>
            <a:pPr marL="342900" indent="-342900" algn="just">
              <a:buFont typeface="Arial"/>
              <a:buChar char="•"/>
            </a:pPr>
            <a:r>
              <a:rPr lang="en-US" dirty="0">
                <a:latin typeface="Times New Roman"/>
                <a:cs typeface="Times New Roman"/>
              </a:rPr>
              <a:t>Helps in career planning</a:t>
            </a:r>
          </a:p>
        </p:txBody>
      </p:sp>
      <p:pic>
        <p:nvPicPr>
          <p:cNvPr id="5" name="Picture 4">
            <a:extLst>
              <a:ext uri="{FF2B5EF4-FFF2-40B4-BE49-F238E27FC236}">
                <a16:creationId xmlns:a16="http://schemas.microsoft.com/office/drawing/2014/main" id="{D9D9C4DA-4795-313D-F34A-DB8F5DEE11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8188" y="701917"/>
            <a:ext cx="7920880" cy="4207967"/>
          </a:xfrm>
          <a:prstGeom prst="rect">
            <a:avLst/>
          </a:prstGeom>
        </p:spPr>
      </p:pic>
    </p:spTree>
    <p:extLst>
      <p:ext uri="{BB962C8B-B14F-4D97-AF65-F5344CB8AC3E}">
        <p14:creationId xmlns:p14="http://schemas.microsoft.com/office/powerpoint/2010/main" val="2574413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B22F351-0C0E-4EE9-0B16-5BD7176D8D50}"/>
              </a:ext>
            </a:extLst>
          </p:cNvPr>
          <p:cNvSpPr txBox="1"/>
          <p:nvPr/>
        </p:nvSpPr>
        <p:spPr>
          <a:xfrm>
            <a:off x="6886500" y="692696"/>
            <a:ext cx="4824537" cy="2031325"/>
          </a:xfrm>
          <a:prstGeom prst="rect">
            <a:avLst/>
          </a:prstGeom>
          <a:noFill/>
        </p:spPr>
        <p:txBody>
          <a:bodyPr wrap="square" lIns="91440" tIns="45720" rIns="91440" bIns="45720" rtlCol="0" anchor="t">
            <a:spAutoFit/>
          </a:bodyPr>
          <a:lstStyle/>
          <a:p>
            <a:pPr algn="just"/>
            <a:r>
              <a:rPr lang="en-US" dirty="0">
                <a:latin typeface="Times New Roman"/>
                <a:cs typeface="Times New Roman"/>
              </a:rPr>
              <a:t>The </a:t>
            </a:r>
            <a:r>
              <a:rPr lang="en-US" b="1" dirty="0">
                <a:latin typeface="Times New Roman"/>
                <a:cs typeface="Times New Roman"/>
              </a:rPr>
              <a:t>job selection interface</a:t>
            </a:r>
            <a:r>
              <a:rPr lang="en-US" dirty="0">
                <a:latin typeface="Times New Roman"/>
                <a:cs typeface="Times New Roman"/>
              </a:rPr>
              <a:t> allows users to choose a preferred role from the recommended list. Based on the selected role the system performs </a:t>
            </a:r>
            <a:r>
              <a:rPr lang="en-US" b="1" dirty="0">
                <a:latin typeface="Times New Roman"/>
                <a:cs typeface="Times New Roman"/>
              </a:rPr>
              <a:t>skill gap analysis</a:t>
            </a:r>
            <a:r>
              <a:rPr lang="en-US" dirty="0">
                <a:latin typeface="Times New Roman"/>
                <a:cs typeface="Times New Roman"/>
              </a:rPr>
              <a:t>. </a:t>
            </a:r>
          </a:p>
          <a:p>
            <a:pPr algn="just"/>
            <a:r>
              <a:rPr lang="en-US">
                <a:latin typeface="Times New Roman"/>
                <a:cs typeface="Times New Roman"/>
              </a:rPr>
              <a:t>The output </a:t>
            </a:r>
            <a:r>
              <a:rPr lang="en-US" dirty="0">
                <a:latin typeface="Times New Roman"/>
                <a:cs typeface="Times New Roman"/>
              </a:rPr>
              <a:t>highlights missing skills such as </a:t>
            </a:r>
            <a:r>
              <a:rPr lang="en-US" i="1" dirty="0">
                <a:latin typeface="Times New Roman"/>
                <a:cs typeface="Times New Roman"/>
              </a:rPr>
              <a:t>Regression, Hadoop, Tableau, Spark, AWS,</a:t>
            </a:r>
            <a:r>
              <a:rPr lang="en-US" dirty="0">
                <a:latin typeface="Times New Roman"/>
                <a:cs typeface="Times New Roman"/>
              </a:rPr>
              <a:t> and </a:t>
            </a:r>
            <a:r>
              <a:rPr lang="en-US" i="1" dirty="0">
                <a:latin typeface="Times New Roman"/>
                <a:cs typeface="Times New Roman"/>
              </a:rPr>
              <a:t>Feature Engineering</a:t>
            </a:r>
            <a:r>
              <a:rPr lang="en-US" dirty="0">
                <a:latin typeface="Times New Roman"/>
                <a:cs typeface="Times New Roman"/>
              </a:rPr>
              <a:t>. </a:t>
            </a:r>
            <a:endParaRPr lang="en-IN">
              <a:latin typeface="Times New Roman"/>
              <a:cs typeface="Times New Roman"/>
            </a:endParaRPr>
          </a:p>
        </p:txBody>
      </p:sp>
      <p:sp>
        <p:nvSpPr>
          <p:cNvPr id="7" name="TextBox 6">
            <a:extLst>
              <a:ext uri="{FF2B5EF4-FFF2-40B4-BE49-F238E27FC236}">
                <a16:creationId xmlns:a16="http://schemas.microsoft.com/office/drawing/2014/main" id="{D37F0B5C-3270-A082-A8A1-6BB1FDFDE004}"/>
              </a:ext>
            </a:extLst>
          </p:cNvPr>
          <p:cNvSpPr txBox="1"/>
          <p:nvPr/>
        </p:nvSpPr>
        <p:spPr>
          <a:xfrm>
            <a:off x="333772" y="4509120"/>
            <a:ext cx="4608512" cy="923330"/>
          </a:xfrm>
          <a:prstGeom prst="rect">
            <a:avLst/>
          </a:prstGeom>
          <a:noFill/>
        </p:spPr>
        <p:txBody>
          <a:bodyPr wrap="square" lIns="91440" tIns="45720" rIns="91440" bIns="45720" rtlCol="0" anchor="t">
            <a:spAutoFit/>
          </a:bodyPr>
          <a:lstStyle/>
          <a:p>
            <a:pPr algn="just"/>
            <a:r>
              <a:rPr lang="en-US" dirty="0">
                <a:latin typeface="Times New Roman"/>
                <a:cs typeface="Times New Roman"/>
              </a:rPr>
              <a:t>This clearly shows what additional skills are required for the selected role, making the system highly actionable.</a:t>
            </a:r>
            <a:endParaRPr lang="en-IN">
              <a:latin typeface="Times New Roman"/>
              <a:cs typeface="Times New Roman"/>
            </a:endParaRPr>
          </a:p>
        </p:txBody>
      </p:sp>
      <p:pic>
        <p:nvPicPr>
          <p:cNvPr id="11" name="Picture 10">
            <a:extLst>
              <a:ext uri="{FF2B5EF4-FFF2-40B4-BE49-F238E27FC236}">
                <a16:creationId xmlns:a16="http://schemas.microsoft.com/office/drawing/2014/main" id="{C79F9FF0-24AF-9BC2-04A0-C4990883C0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0696" y="292152"/>
            <a:ext cx="5904656" cy="3136848"/>
          </a:xfrm>
          <a:prstGeom prst="rect">
            <a:avLst/>
          </a:prstGeom>
        </p:spPr>
      </p:pic>
      <p:pic>
        <p:nvPicPr>
          <p:cNvPr id="13" name="Picture 12">
            <a:extLst>
              <a:ext uri="{FF2B5EF4-FFF2-40B4-BE49-F238E27FC236}">
                <a16:creationId xmlns:a16="http://schemas.microsoft.com/office/drawing/2014/main" id="{8EA9D9E3-C49B-4A01-931C-66658D8CC5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6380" y="3501008"/>
            <a:ext cx="6120680" cy="3251611"/>
          </a:xfrm>
          <a:prstGeom prst="rect">
            <a:avLst/>
          </a:prstGeom>
        </p:spPr>
      </p:pic>
    </p:spTree>
    <p:extLst>
      <p:ext uri="{BB962C8B-B14F-4D97-AF65-F5344CB8AC3E}">
        <p14:creationId xmlns:p14="http://schemas.microsoft.com/office/powerpoint/2010/main" val="191661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8CD7CA-803C-630B-EF85-DB4239C48A11}"/>
              </a:ext>
            </a:extLst>
          </p:cNvPr>
          <p:cNvSpPr txBox="1"/>
          <p:nvPr/>
        </p:nvSpPr>
        <p:spPr>
          <a:xfrm>
            <a:off x="180433" y="764705"/>
            <a:ext cx="4536504" cy="3788858"/>
          </a:xfrm>
          <a:prstGeom prst="rect">
            <a:avLst/>
          </a:prstGeom>
          <a:noFill/>
        </p:spPr>
        <p:txBody>
          <a:bodyPr wrap="square" rtlCol="0">
            <a:spAutoFit/>
          </a:bodyPr>
          <a:lstStyle/>
          <a:p>
            <a:pPr>
              <a:lnSpc>
                <a:spcPct val="150000"/>
              </a:lnSpc>
            </a:pPr>
            <a:r>
              <a:rPr lang="en-IN" dirty="0"/>
              <a:t>• The </a:t>
            </a:r>
            <a:r>
              <a:rPr lang="en-IN" b="1" dirty="0"/>
              <a:t>Hiring companies module </a:t>
            </a:r>
            <a:r>
              <a:rPr lang="en-IN" dirty="0"/>
              <a:t>connects recommended job roles with current hiring opportunities.</a:t>
            </a:r>
            <a:br>
              <a:rPr lang="en-IN" dirty="0"/>
            </a:br>
            <a:r>
              <a:rPr lang="en-IN" dirty="0"/>
              <a:t>• Provides company details, job locations, employment types, salary information, and application links.</a:t>
            </a:r>
            <a:br>
              <a:rPr lang="en-IN" dirty="0"/>
            </a:br>
            <a:r>
              <a:rPr lang="en-IN" dirty="0"/>
              <a:t>• Enhances the practical value of the system by helping users explore relevant job openings.</a:t>
            </a:r>
          </a:p>
        </p:txBody>
      </p:sp>
      <p:pic>
        <p:nvPicPr>
          <p:cNvPr id="4" name="Picture 3">
            <a:extLst>
              <a:ext uri="{FF2B5EF4-FFF2-40B4-BE49-F238E27FC236}">
                <a16:creationId xmlns:a16="http://schemas.microsoft.com/office/drawing/2014/main" id="{2503AD7A-1D71-D204-694C-5FE71BF26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937" y="692696"/>
            <a:ext cx="7354140" cy="5400599"/>
          </a:xfrm>
          <a:prstGeom prst="rect">
            <a:avLst/>
          </a:prstGeom>
        </p:spPr>
      </p:pic>
    </p:spTree>
    <p:extLst>
      <p:ext uri="{BB962C8B-B14F-4D97-AF65-F5344CB8AC3E}">
        <p14:creationId xmlns:p14="http://schemas.microsoft.com/office/powerpoint/2010/main" val="1231085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1A649-834E-3D94-896D-5F9E9756CBB4}"/>
              </a:ext>
            </a:extLst>
          </p:cNvPr>
          <p:cNvSpPr txBox="1"/>
          <p:nvPr/>
        </p:nvSpPr>
        <p:spPr>
          <a:xfrm>
            <a:off x="217713" y="692696"/>
            <a:ext cx="3672408" cy="4619854"/>
          </a:xfrm>
          <a:prstGeom prst="rect">
            <a:avLst/>
          </a:prstGeom>
          <a:noFill/>
        </p:spPr>
        <p:txBody>
          <a:bodyPr wrap="square" rtlCol="0">
            <a:spAutoFit/>
          </a:bodyPr>
          <a:lstStyle/>
          <a:p>
            <a:pPr>
              <a:lnSpc>
                <a:spcPct val="150000"/>
              </a:lnSpc>
            </a:pPr>
            <a:r>
              <a:rPr lang="en-IN" dirty="0"/>
              <a:t>• The </a:t>
            </a:r>
            <a:r>
              <a:rPr lang="en-IN" b="1" dirty="0"/>
              <a:t>Chatbot module </a:t>
            </a:r>
            <a:r>
              <a:rPr lang="en-IN" dirty="0"/>
              <a:t>provides personalized career guidance based on resume analysis results.</a:t>
            </a:r>
            <a:br>
              <a:rPr lang="en-IN" dirty="0"/>
            </a:br>
            <a:r>
              <a:rPr lang="en-IN" dirty="0"/>
              <a:t>• Assists users in understanding skill gaps, job matches, and skill improvement strategies.</a:t>
            </a:r>
            <a:br>
              <a:rPr lang="en-IN" dirty="0"/>
            </a:br>
            <a:r>
              <a:rPr lang="en-IN" dirty="0"/>
              <a:t>• Improves user experience through interactive and instant career support.</a:t>
            </a:r>
          </a:p>
          <a:p>
            <a:pPr marL="285750" indent="-285750">
              <a:lnSpc>
                <a:spcPct val="150000"/>
              </a:lnSpc>
              <a:buFont typeface="Arial" panose="020B0604020202020204" pitchFamily="34" charset="0"/>
              <a:buChar char="•"/>
            </a:pPr>
            <a:r>
              <a:rPr lang="en-IN" dirty="0"/>
              <a:t>Helps users to revisit their previous chats.</a:t>
            </a:r>
          </a:p>
        </p:txBody>
      </p:sp>
      <p:pic>
        <p:nvPicPr>
          <p:cNvPr id="5" name="Picture 4">
            <a:extLst>
              <a:ext uri="{FF2B5EF4-FFF2-40B4-BE49-F238E27FC236}">
                <a16:creationId xmlns:a16="http://schemas.microsoft.com/office/drawing/2014/main" id="{84BF8A78-7F64-7A66-E7A4-CA448D7A0B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0156" y="692697"/>
            <a:ext cx="8180956" cy="5472608"/>
          </a:xfrm>
          <a:prstGeom prst="rect">
            <a:avLst/>
          </a:prstGeom>
        </p:spPr>
      </p:pic>
    </p:spTree>
    <p:extLst>
      <p:ext uri="{BB962C8B-B14F-4D97-AF65-F5344CB8AC3E}">
        <p14:creationId xmlns:p14="http://schemas.microsoft.com/office/powerpoint/2010/main" val="841630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14144-B8EB-2E2E-4D89-A94C53AACDEB}"/>
              </a:ext>
            </a:extLst>
          </p:cNvPr>
          <p:cNvSpPr>
            <a:spLocks noGrp="1"/>
          </p:cNvSpPr>
          <p:nvPr>
            <p:ph type="title"/>
          </p:nvPr>
        </p:nvSpPr>
        <p:spPr/>
        <p:txBody>
          <a:bodyPr/>
          <a:lstStyle/>
          <a:p>
            <a:r>
              <a:rPr lang="en-IN" b="1" dirty="0"/>
              <a:t>REFERENCES</a:t>
            </a:r>
            <a:br>
              <a:rPr lang="en-IN" dirty="0"/>
            </a:br>
            <a:endParaRPr lang="en-IN" dirty="0"/>
          </a:p>
        </p:txBody>
      </p:sp>
      <p:sp>
        <p:nvSpPr>
          <p:cNvPr id="3" name="Content Placeholder 2">
            <a:extLst>
              <a:ext uri="{FF2B5EF4-FFF2-40B4-BE49-F238E27FC236}">
                <a16:creationId xmlns:a16="http://schemas.microsoft.com/office/drawing/2014/main" id="{58C80B78-B883-B728-5B9B-885AC97D3579}"/>
              </a:ext>
            </a:extLst>
          </p:cNvPr>
          <p:cNvSpPr>
            <a:spLocks noGrp="1"/>
          </p:cNvSpPr>
          <p:nvPr>
            <p:ph idx="1"/>
          </p:nvPr>
        </p:nvSpPr>
        <p:spPr/>
        <p:txBody>
          <a:bodyPr/>
          <a:lstStyle/>
          <a:p>
            <a:pPr lvl="0"/>
            <a:r>
              <a:rPr lang="en-IN" dirty="0"/>
              <a:t>Research papers on resume analysis and job recommendation systems - </a:t>
            </a:r>
            <a:r>
              <a:rPr lang="en-IN" u="sng" dirty="0">
                <a:hlinkClick r:id="rId2" action="ppaction://hlinkfile"/>
              </a:rPr>
              <a:t>Research paper 1</a:t>
            </a:r>
            <a:r>
              <a:rPr lang="en-IN" dirty="0"/>
              <a:t>, </a:t>
            </a:r>
            <a:r>
              <a:rPr lang="en-IN" u="sng" dirty="0">
                <a:hlinkClick r:id="rId3" action="ppaction://hlinkfile"/>
              </a:rPr>
              <a:t>Research paper 2</a:t>
            </a:r>
            <a:r>
              <a:rPr lang="en-IN" dirty="0"/>
              <a:t>.</a:t>
            </a:r>
          </a:p>
          <a:p>
            <a:pPr lvl="0"/>
            <a:r>
              <a:rPr lang="en-IN" dirty="0"/>
              <a:t>Python Documentation (official Python </a:t>
            </a:r>
            <a:r>
              <a:rPr lang="en-IN" u="sng" dirty="0">
                <a:hlinkClick r:id="rId4"/>
              </a:rPr>
              <a:t>libraries</a:t>
            </a:r>
            <a:r>
              <a:rPr lang="en-IN" dirty="0"/>
              <a:t> and </a:t>
            </a:r>
            <a:r>
              <a:rPr lang="en-IN" u="sng" dirty="0">
                <a:hlinkClick r:id="rId5"/>
              </a:rPr>
              <a:t>modules</a:t>
            </a:r>
            <a:r>
              <a:rPr lang="en-IN" dirty="0"/>
              <a:t>) </a:t>
            </a:r>
          </a:p>
          <a:p>
            <a:pPr lvl="0"/>
            <a:r>
              <a:rPr lang="en-IN" u="sng" dirty="0" err="1">
                <a:hlinkClick r:id="rId6"/>
              </a:rPr>
              <a:t>Streamlit</a:t>
            </a:r>
            <a:r>
              <a:rPr lang="en-IN" dirty="0"/>
              <a:t> Documentation for user interface development </a:t>
            </a:r>
          </a:p>
          <a:p>
            <a:pPr lvl="0"/>
            <a:r>
              <a:rPr lang="en-IN" dirty="0"/>
              <a:t>Online resources for skill datasets and career analysis – </a:t>
            </a:r>
            <a:r>
              <a:rPr lang="en-IN" u="sng" dirty="0">
                <a:hlinkClick r:id="rId7"/>
              </a:rPr>
              <a:t>Kaggle dataset</a:t>
            </a:r>
            <a:endParaRPr lang="en-IN" u="sng" dirty="0"/>
          </a:p>
          <a:p>
            <a:r>
              <a:rPr lang="en-IN" dirty="0"/>
              <a:t>GitHub Repository -</a:t>
            </a:r>
            <a:r>
              <a:rPr lang="en-IN" dirty="0">
                <a:hlinkClick r:id="rId8"/>
              </a:rPr>
              <a:t>https://github.com/vucse241fa04b96-lang/skill-match-project</a:t>
            </a:r>
            <a:endParaRPr lang="en-IN" dirty="0"/>
          </a:p>
          <a:p>
            <a:endParaRPr lang="en-IN" dirty="0"/>
          </a:p>
        </p:txBody>
      </p:sp>
    </p:spTree>
    <p:extLst>
      <p:ext uri="{BB962C8B-B14F-4D97-AF65-F5344CB8AC3E}">
        <p14:creationId xmlns:p14="http://schemas.microsoft.com/office/powerpoint/2010/main" val="208825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820" y="476672"/>
            <a:ext cx="7834065" cy="752872"/>
          </a:xfrm>
        </p:spPr>
        <p:txBody>
          <a:bodyPr/>
          <a:lstStyle/>
          <a:p>
            <a:r>
              <a:rPr lang="en-US" dirty="0"/>
              <a:t>CONCLUSION</a:t>
            </a:r>
          </a:p>
        </p:txBody>
      </p:sp>
      <p:sp>
        <p:nvSpPr>
          <p:cNvPr id="5" name="Rectangle 2">
            <a:extLst>
              <a:ext uri="{FF2B5EF4-FFF2-40B4-BE49-F238E27FC236}">
                <a16:creationId xmlns:a16="http://schemas.microsoft.com/office/drawing/2014/main" id="{A41CDB58-E3A1-D1C2-93BE-F275880CFCE8}"/>
              </a:ext>
            </a:extLst>
          </p:cNvPr>
          <p:cNvSpPr>
            <a:spLocks noChangeArrowheads="1"/>
          </p:cNvSpPr>
          <p:nvPr/>
        </p:nvSpPr>
        <p:spPr bwMode="auto">
          <a:xfrm>
            <a:off x="909836" y="1628800"/>
            <a:ext cx="979308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t>The proposed </a:t>
            </a:r>
            <a:r>
              <a:rPr lang="en-IN" b="1" dirty="0"/>
              <a:t>Skill-Based Career Analyzer</a:t>
            </a:r>
            <a:r>
              <a:rPr lang="en-IN" dirty="0"/>
              <a:t> successfully achieves its objectives by providing an end-to-end career guidance solution. The system accurately extracts skills from resumes, recommends suitable job roles, identifies skill gaps, and suggests trending technologies to improve employability. The newly integrated </a:t>
            </a:r>
            <a:r>
              <a:rPr lang="en-IN" b="1" dirty="0"/>
              <a:t>Hiring Companies Module</a:t>
            </a:r>
            <a:r>
              <a:rPr lang="en-IN" dirty="0"/>
              <a:t> enhances the platform by displaying real-time hiring opportunities, job details, salary information, and direct application links for recommended roles.</a:t>
            </a:r>
          </a:p>
          <a:p>
            <a:endParaRPr lang="en-IN" dirty="0"/>
          </a:p>
          <a:p>
            <a:endParaRPr lang="en-IN" dirty="0"/>
          </a:p>
          <a:p>
            <a:r>
              <a:rPr lang="en-IN" dirty="0"/>
              <a:t> Additionally, the </a:t>
            </a:r>
            <a:r>
              <a:rPr lang="en-IN" b="1" dirty="0"/>
              <a:t>AI Career Chatbot</a:t>
            </a:r>
            <a:r>
              <a:rPr lang="en-IN" dirty="0"/>
              <a:t> offers personalized career guidance, roadmap suggestions, and instant answers to user queries, improving overall user engagement and support.</a:t>
            </a:r>
          </a:p>
          <a:p>
            <a:r>
              <a:rPr lang="en-IN" dirty="0"/>
              <a:t>Overall, the project delivers a practical, user-friendly, and effective career development platform that helps users understand their current skill profile, identify improvement areas, explore job opportunities, and make informed career decisions, with strong potential for future enhancements.</a:t>
            </a:r>
          </a:p>
        </p:txBody>
      </p:sp>
    </p:spTree>
    <p:extLst>
      <p:ext uri="{BB962C8B-B14F-4D97-AF65-F5344CB8AC3E}">
        <p14:creationId xmlns:p14="http://schemas.microsoft.com/office/powerpoint/2010/main" val="247816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22004" y="2564904"/>
            <a:ext cx="7704856" cy="1569660"/>
          </a:xfrm>
          <a:prstGeom prst="rect">
            <a:avLst/>
          </a:prstGeom>
          <a:noFill/>
        </p:spPr>
        <p:txBody>
          <a:bodyPr wrap="square" rtlCol="0">
            <a:spAutoFit/>
          </a:bodyPr>
          <a:lstStyle/>
          <a:p>
            <a:r>
              <a:rPr lang="en-US" sz="9600" dirty="0"/>
              <a:t>THANK  YOU </a:t>
            </a:r>
          </a:p>
        </p:txBody>
      </p:sp>
    </p:spTree>
    <p:extLst>
      <p:ext uri="{BB962C8B-B14F-4D97-AF65-F5344CB8AC3E}">
        <p14:creationId xmlns:p14="http://schemas.microsoft.com/office/powerpoint/2010/main" val="2746144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272</TotalTime>
  <Words>1854</Words>
  <Application>Microsoft Office PowerPoint</Application>
  <PresentationFormat>Custom</PresentationFormat>
  <Paragraphs>197</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Arial,Sans-Serif</vt:lpstr>
      <vt:lpstr>Corbel</vt:lpstr>
      <vt:lpstr>Courier New</vt:lpstr>
      <vt:lpstr>Times New Roman</vt:lpstr>
      <vt:lpstr>Digital Blue Tunnel 16x9</vt:lpstr>
      <vt:lpstr>Skill-Based Career Analyzer</vt:lpstr>
      <vt:lpstr>ABSTRACT</vt:lpstr>
      <vt:lpstr>Proposed System</vt:lpstr>
      <vt:lpstr>Our approach(Architecture)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user</dc:creator>
  <cp:lastModifiedBy>Lalitha Chowdari</cp:lastModifiedBy>
  <cp:revision>237</cp:revision>
  <dcterms:created xsi:type="dcterms:W3CDTF">2026-02-09T05:18:34Z</dcterms:created>
  <dcterms:modified xsi:type="dcterms:W3CDTF">2026-06-02T03:52:05Z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